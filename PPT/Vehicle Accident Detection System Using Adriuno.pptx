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3" r:id="rId2"/>
    <p:sldId id="257" r:id="rId3"/>
    <p:sldId id="258" r:id="rId4"/>
    <p:sldId id="262" r:id="rId5"/>
    <p:sldId id="263" r:id="rId6"/>
    <p:sldId id="279" r:id="rId7"/>
    <p:sldId id="264" r:id="rId8"/>
    <p:sldId id="265" r:id="rId9"/>
    <p:sldId id="266" r:id="rId10"/>
    <p:sldId id="267" r:id="rId11"/>
    <p:sldId id="268" r:id="rId12"/>
    <p:sldId id="269" r:id="rId13"/>
    <p:sldId id="270" r:id="rId14"/>
    <p:sldId id="272" r:id="rId15"/>
    <p:sldId id="273" r:id="rId16"/>
    <p:sldId id="274" r:id="rId17"/>
    <p:sldId id="316" r:id="rId18"/>
    <p:sldId id="277" r:id="rId19"/>
    <p:sldId id="317" r:id="rId20"/>
    <p:sldId id="275" r:id="rId21"/>
    <p:sldId id="320" r:id="rId22"/>
    <p:sldId id="260" r:id="rId23"/>
    <p:sldId id="309" r:id="rId24"/>
    <p:sldId id="321" r:id="rId25"/>
    <p:sldId id="276" r:id="rId26"/>
    <p:sldId id="322" r:id="rId27"/>
    <p:sldId id="292" r:id="rId28"/>
    <p:sldId id="295" r:id="rId29"/>
    <p:sldId id="311" r:id="rId30"/>
    <p:sldId id="312" r:id="rId31"/>
    <p:sldId id="323" r:id="rId32"/>
    <p:sldId id="299" r:id="rId33"/>
    <p:sldId id="32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win Festo" initials="AF" lastIdx="2" clrIdx="0">
    <p:extLst>
      <p:ext uri="{19B8F6BF-5375-455C-9EA6-DF929625EA0E}">
        <p15:presenceInfo xmlns:p15="http://schemas.microsoft.com/office/powerpoint/2012/main" userId="37c59591ae06435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758" autoAdjust="0"/>
    <p:restoredTop sz="94660"/>
  </p:normalViewPr>
  <p:slideViewPr>
    <p:cSldViewPr snapToGrid="0">
      <p:cViewPr varScale="1">
        <p:scale>
          <a:sx n="63" d="100"/>
          <a:sy n="63" d="100"/>
        </p:scale>
        <p:origin x="392"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0D2CA-6949-06B5-E15F-7F15AEC349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313366A-30CC-8F60-D31C-873135FF8F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82A03CD-87F1-11C1-6185-E8E31296D434}"/>
              </a:ext>
            </a:extLst>
          </p:cNvPr>
          <p:cNvSpPr>
            <a:spLocks noGrp="1"/>
          </p:cNvSpPr>
          <p:nvPr>
            <p:ph type="dt" sz="half" idx="10"/>
          </p:nvPr>
        </p:nvSpPr>
        <p:spPr/>
        <p:txBody>
          <a:bodyPr/>
          <a:lstStyle/>
          <a:p>
            <a:fld id="{1D11F462-DC1F-445E-A978-63C8B6397F9A}" type="datetimeFigureOut">
              <a:rPr lang="en-IN" smtClean="0"/>
              <a:t>16-03-2026</a:t>
            </a:fld>
            <a:endParaRPr lang="en-IN"/>
          </a:p>
        </p:txBody>
      </p:sp>
      <p:sp>
        <p:nvSpPr>
          <p:cNvPr id="5" name="Footer Placeholder 4">
            <a:extLst>
              <a:ext uri="{FF2B5EF4-FFF2-40B4-BE49-F238E27FC236}">
                <a16:creationId xmlns:a16="http://schemas.microsoft.com/office/drawing/2014/main" id="{2BED70A0-7957-D740-5C5D-A0772DE3F5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ABEBE9-B516-F5A8-94A9-925B540074DD}"/>
              </a:ext>
            </a:extLst>
          </p:cNvPr>
          <p:cNvSpPr>
            <a:spLocks noGrp="1"/>
          </p:cNvSpPr>
          <p:nvPr>
            <p:ph type="sldNum" sz="quarter" idx="12"/>
          </p:nvPr>
        </p:nvSpPr>
        <p:spPr/>
        <p:txBody>
          <a:bodyPr/>
          <a:lstStyle/>
          <a:p>
            <a:fld id="{073E9745-3FF1-45DC-957F-BC1622CE6D93}" type="slidenum">
              <a:rPr lang="en-IN" smtClean="0"/>
              <a:t>‹#›</a:t>
            </a:fld>
            <a:endParaRPr lang="en-IN"/>
          </a:p>
        </p:txBody>
      </p:sp>
    </p:spTree>
    <p:extLst>
      <p:ext uri="{BB962C8B-B14F-4D97-AF65-F5344CB8AC3E}">
        <p14:creationId xmlns:p14="http://schemas.microsoft.com/office/powerpoint/2010/main" val="3603163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F1E81-CB02-6CAA-70FA-77A8256D013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B2525C-7484-7447-785F-5F90A432E6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E754B8-9417-D218-2276-19F9BBAED7B0}"/>
              </a:ext>
            </a:extLst>
          </p:cNvPr>
          <p:cNvSpPr>
            <a:spLocks noGrp="1"/>
          </p:cNvSpPr>
          <p:nvPr>
            <p:ph type="dt" sz="half" idx="10"/>
          </p:nvPr>
        </p:nvSpPr>
        <p:spPr/>
        <p:txBody>
          <a:bodyPr/>
          <a:lstStyle/>
          <a:p>
            <a:fld id="{1D11F462-DC1F-445E-A978-63C8B6397F9A}" type="datetimeFigureOut">
              <a:rPr lang="en-IN" smtClean="0"/>
              <a:t>16-03-2026</a:t>
            </a:fld>
            <a:endParaRPr lang="en-IN"/>
          </a:p>
        </p:txBody>
      </p:sp>
      <p:sp>
        <p:nvSpPr>
          <p:cNvPr id="5" name="Footer Placeholder 4">
            <a:extLst>
              <a:ext uri="{FF2B5EF4-FFF2-40B4-BE49-F238E27FC236}">
                <a16:creationId xmlns:a16="http://schemas.microsoft.com/office/drawing/2014/main" id="{DAE56FDE-5579-C7FE-3C20-AA4D37A3F8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9502CB-A9A6-E142-C0A4-CC60CE545063}"/>
              </a:ext>
            </a:extLst>
          </p:cNvPr>
          <p:cNvSpPr>
            <a:spLocks noGrp="1"/>
          </p:cNvSpPr>
          <p:nvPr>
            <p:ph type="sldNum" sz="quarter" idx="12"/>
          </p:nvPr>
        </p:nvSpPr>
        <p:spPr/>
        <p:txBody>
          <a:bodyPr/>
          <a:lstStyle/>
          <a:p>
            <a:fld id="{073E9745-3FF1-45DC-957F-BC1622CE6D93}" type="slidenum">
              <a:rPr lang="en-IN" smtClean="0"/>
              <a:t>‹#›</a:t>
            </a:fld>
            <a:endParaRPr lang="en-IN"/>
          </a:p>
        </p:txBody>
      </p:sp>
    </p:spTree>
    <p:extLst>
      <p:ext uri="{BB962C8B-B14F-4D97-AF65-F5344CB8AC3E}">
        <p14:creationId xmlns:p14="http://schemas.microsoft.com/office/powerpoint/2010/main" val="2089116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73F15-A544-7512-E732-38E389FABF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D48FAB0-A402-116D-455E-EC05215620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3CCC30-C9A6-3D32-40BC-D09E19124DBD}"/>
              </a:ext>
            </a:extLst>
          </p:cNvPr>
          <p:cNvSpPr>
            <a:spLocks noGrp="1"/>
          </p:cNvSpPr>
          <p:nvPr>
            <p:ph type="dt" sz="half" idx="10"/>
          </p:nvPr>
        </p:nvSpPr>
        <p:spPr/>
        <p:txBody>
          <a:bodyPr/>
          <a:lstStyle/>
          <a:p>
            <a:fld id="{1D11F462-DC1F-445E-A978-63C8B6397F9A}" type="datetimeFigureOut">
              <a:rPr lang="en-IN" smtClean="0"/>
              <a:t>16-03-2026</a:t>
            </a:fld>
            <a:endParaRPr lang="en-IN"/>
          </a:p>
        </p:txBody>
      </p:sp>
      <p:sp>
        <p:nvSpPr>
          <p:cNvPr id="5" name="Footer Placeholder 4">
            <a:extLst>
              <a:ext uri="{FF2B5EF4-FFF2-40B4-BE49-F238E27FC236}">
                <a16:creationId xmlns:a16="http://schemas.microsoft.com/office/drawing/2014/main" id="{ECCC9AAC-56CA-A35D-E465-A3E1C21E02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97053F-0D55-0905-C0E2-CBC6579EA1B8}"/>
              </a:ext>
            </a:extLst>
          </p:cNvPr>
          <p:cNvSpPr>
            <a:spLocks noGrp="1"/>
          </p:cNvSpPr>
          <p:nvPr>
            <p:ph type="sldNum" sz="quarter" idx="12"/>
          </p:nvPr>
        </p:nvSpPr>
        <p:spPr/>
        <p:txBody>
          <a:bodyPr/>
          <a:lstStyle/>
          <a:p>
            <a:fld id="{073E9745-3FF1-45DC-957F-BC1622CE6D93}" type="slidenum">
              <a:rPr lang="en-IN" smtClean="0"/>
              <a:t>‹#›</a:t>
            </a:fld>
            <a:endParaRPr lang="en-IN"/>
          </a:p>
        </p:txBody>
      </p:sp>
    </p:spTree>
    <p:extLst>
      <p:ext uri="{BB962C8B-B14F-4D97-AF65-F5344CB8AC3E}">
        <p14:creationId xmlns:p14="http://schemas.microsoft.com/office/powerpoint/2010/main" val="340987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BEA26-3E8D-16FC-0EB6-46FABA3CA49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E372C7-6879-3D85-F557-A1B241D67B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7161DD9-440E-F652-6299-200325CC90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227877F-76A7-02EA-B52B-A7CC7EFA2839}"/>
              </a:ext>
            </a:extLst>
          </p:cNvPr>
          <p:cNvSpPr>
            <a:spLocks noGrp="1"/>
          </p:cNvSpPr>
          <p:nvPr>
            <p:ph type="dt" sz="half" idx="10"/>
          </p:nvPr>
        </p:nvSpPr>
        <p:spPr/>
        <p:txBody>
          <a:bodyPr/>
          <a:lstStyle/>
          <a:p>
            <a:fld id="{1D11F462-DC1F-445E-A978-63C8B6397F9A}" type="datetimeFigureOut">
              <a:rPr lang="en-IN" smtClean="0"/>
              <a:t>16-03-2026</a:t>
            </a:fld>
            <a:endParaRPr lang="en-IN"/>
          </a:p>
        </p:txBody>
      </p:sp>
      <p:sp>
        <p:nvSpPr>
          <p:cNvPr id="6" name="Footer Placeholder 5">
            <a:extLst>
              <a:ext uri="{FF2B5EF4-FFF2-40B4-BE49-F238E27FC236}">
                <a16:creationId xmlns:a16="http://schemas.microsoft.com/office/drawing/2014/main" id="{37749AC2-B5FD-17D8-8F24-58F9DF8F226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681E39-FDDB-9B98-CA88-BF945425DCE8}"/>
              </a:ext>
            </a:extLst>
          </p:cNvPr>
          <p:cNvSpPr>
            <a:spLocks noGrp="1"/>
          </p:cNvSpPr>
          <p:nvPr>
            <p:ph type="sldNum" sz="quarter" idx="12"/>
          </p:nvPr>
        </p:nvSpPr>
        <p:spPr/>
        <p:txBody>
          <a:bodyPr/>
          <a:lstStyle/>
          <a:p>
            <a:fld id="{073E9745-3FF1-45DC-957F-BC1622CE6D93}" type="slidenum">
              <a:rPr lang="en-IN" smtClean="0"/>
              <a:t>‹#›</a:t>
            </a:fld>
            <a:endParaRPr lang="en-IN"/>
          </a:p>
        </p:txBody>
      </p:sp>
    </p:spTree>
    <p:extLst>
      <p:ext uri="{BB962C8B-B14F-4D97-AF65-F5344CB8AC3E}">
        <p14:creationId xmlns:p14="http://schemas.microsoft.com/office/powerpoint/2010/main" val="1909331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F4290-F8CE-42D7-FA1D-FDA3399FD4C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27F2C6E-6E6D-CFE6-6BDC-8BCD25E17B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49FBC6-1AD6-A030-F58F-6EF969F7C6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182A7E6-5881-2E1A-E79B-D1954A33D1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1633B0-5929-094A-40DB-10A6E1BD95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F948BBF-FBD4-A918-53BB-D485E61C396E}"/>
              </a:ext>
            </a:extLst>
          </p:cNvPr>
          <p:cNvSpPr>
            <a:spLocks noGrp="1"/>
          </p:cNvSpPr>
          <p:nvPr>
            <p:ph type="dt" sz="half" idx="10"/>
          </p:nvPr>
        </p:nvSpPr>
        <p:spPr/>
        <p:txBody>
          <a:bodyPr/>
          <a:lstStyle/>
          <a:p>
            <a:fld id="{1D11F462-DC1F-445E-A978-63C8B6397F9A}" type="datetimeFigureOut">
              <a:rPr lang="en-IN" smtClean="0"/>
              <a:t>16-03-2026</a:t>
            </a:fld>
            <a:endParaRPr lang="en-IN"/>
          </a:p>
        </p:txBody>
      </p:sp>
      <p:sp>
        <p:nvSpPr>
          <p:cNvPr id="8" name="Footer Placeholder 7">
            <a:extLst>
              <a:ext uri="{FF2B5EF4-FFF2-40B4-BE49-F238E27FC236}">
                <a16:creationId xmlns:a16="http://schemas.microsoft.com/office/drawing/2014/main" id="{268D8ED4-1A7A-41FA-9AA8-629E5597072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06FC658-C47B-C4CB-D0F8-5701F019F2A8}"/>
              </a:ext>
            </a:extLst>
          </p:cNvPr>
          <p:cNvSpPr>
            <a:spLocks noGrp="1"/>
          </p:cNvSpPr>
          <p:nvPr>
            <p:ph type="sldNum" sz="quarter" idx="12"/>
          </p:nvPr>
        </p:nvSpPr>
        <p:spPr/>
        <p:txBody>
          <a:bodyPr/>
          <a:lstStyle/>
          <a:p>
            <a:fld id="{073E9745-3FF1-45DC-957F-BC1622CE6D93}" type="slidenum">
              <a:rPr lang="en-IN" smtClean="0"/>
              <a:t>‹#›</a:t>
            </a:fld>
            <a:endParaRPr lang="en-IN"/>
          </a:p>
        </p:txBody>
      </p:sp>
    </p:spTree>
    <p:extLst>
      <p:ext uri="{BB962C8B-B14F-4D97-AF65-F5344CB8AC3E}">
        <p14:creationId xmlns:p14="http://schemas.microsoft.com/office/powerpoint/2010/main" val="3673668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263DB-47C9-45A1-441A-4E7A54845BE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8D5A115-4F0B-4208-37F5-668435235F6D}"/>
              </a:ext>
            </a:extLst>
          </p:cNvPr>
          <p:cNvSpPr>
            <a:spLocks noGrp="1"/>
          </p:cNvSpPr>
          <p:nvPr>
            <p:ph type="dt" sz="half" idx="10"/>
          </p:nvPr>
        </p:nvSpPr>
        <p:spPr/>
        <p:txBody>
          <a:bodyPr/>
          <a:lstStyle/>
          <a:p>
            <a:fld id="{1D11F462-DC1F-445E-A978-63C8B6397F9A}" type="datetimeFigureOut">
              <a:rPr lang="en-IN" smtClean="0"/>
              <a:t>16-03-2026</a:t>
            </a:fld>
            <a:endParaRPr lang="en-IN"/>
          </a:p>
        </p:txBody>
      </p:sp>
      <p:sp>
        <p:nvSpPr>
          <p:cNvPr id="4" name="Footer Placeholder 3">
            <a:extLst>
              <a:ext uri="{FF2B5EF4-FFF2-40B4-BE49-F238E27FC236}">
                <a16:creationId xmlns:a16="http://schemas.microsoft.com/office/drawing/2014/main" id="{636D91FE-8188-DBE8-31C6-824DAF4F584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C253C97-CFFE-2677-FDAA-12D27AC1D37E}"/>
              </a:ext>
            </a:extLst>
          </p:cNvPr>
          <p:cNvSpPr>
            <a:spLocks noGrp="1"/>
          </p:cNvSpPr>
          <p:nvPr>
            <p:ph type="sldNum" sz="quarter" idx="12"/>
          </p:nvPr>
        </p:nvSpPr>
        <p:spPr/>
        <p:txBody>
          <a:bodyPr/>
          <a:lstStyle/>
          <a:p>
            <a:fld id="{073E9745-3FF1-45DC-957F-BC1622CE6D93}" type="slidenum">
              <a:rPr lang="en-IN" smtClean="0"/>
              <a:t>‹#›</a:t>
            </a:fld>
            <a:endParaRPr lang="en-IN"/>
          </a:p>
        </p:txBody>
      </p:sp>
    </p:spTree>
    <p:extLst>
      <p:ext uri="{BB962C8B-B14F-4D97-AF65-F5344CB8AC3E}">
        <p14:creationId xmlns:p14="http://schemas.microsoft.com/office/powerpoint/2010/main" val="1134621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D0DA22-7FB7-8419-696C-266B85F1FE26}"/>
              </a:ext>
            </a:extLst>
          </p:cNvPr>
          <p:cNvSpPr>
            <a:spLocks noGrp="1"/>
          </p:cNvSpPr>
          <p:nvPr>
            <p:ph type="dt" sz="half" idx="10"/>
          </p:nvPr>
        </p:nvSpPr>
        <p:spPr/>
        <p:txBody>
          <a:bodyPr/>
          <a:lstStyle/>
          <a:p>
            <a:fld id="{1D11F462-DC1F-445E-A978-63C8B6397F9A}" type="datetimeFigureOut">
              <a:rPr lang="en-IN" smtClean="0"/>
              <a:t>16-03-2026</a:t>
            </a:fld>
            <a:endParaRPr lang="en-IN"/>
          </a:p>
        </p:txBody>
      </p:sp>
      <p:sp>
        <p:nvSpPr>
          <p:cNvPr id="3" name="Footer Placeholder 2">
            <a:extLst>
              <a:ext uri="{FF2B5EF4-FFF2-40B4-BE49-F238E27FC236}">
                <a16:creationId xmlns:a16="http://schemas.microsoft.com/office/drawing/2014/main" id="{EEB2A4F2-8B8B-978A-DE01-778E2C3F489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F973F25-12D6-5B23-56A2-B867A0EEA727}"/>
              </a:ext>
            </a:extLst>
          </p:cNvPr>
          <p:cNvSpPr>
            <a:spLocks noGrp="1"/>
          </p:cNvSpPr>
          <p:nvPr>
            <p:ph type="sldNum" sz="quarter" idx="12"/>
          </p:nvPr>
        </p:nvSpPr>
        <p:spPr/>
        <p:txBody>
          <a:bodyPr/>
          <a:lstStyle/>
          <a:p>
            <a:fld id="{073E9745-3FF1-45DC-957F-BC1622CE6D93}" type="slidenum">
              <a:rPr lang="en-IN" smtClean="0"/>
              <a:t>‹#›</a:t>
            </a:fld>
            <a:endParaRPr lang="en-IN"/>
          </a:p>
        </p:txBody>
      </p:sp>
    </p:spTree>
    <p:extLst>
      <p:ext uri="{BB962C8B-B14F-4D97-AF65-F5344CB8AC3E}">
        <p14:creationId xmlns:p14="http://schemas.microsoft.com/office/powerpoint/2010/main" val="866932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E1742-D171-19B0-5385-A34E6A9F33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8EC660F-1C73-2DF2-CCCF-240853D1B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71ACAC7-0F86-2D50-4411-D7387962C1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1E640E-5A6C-3E33-5471-1F10104AA663}"/>
              </a:ext>
            </a:extLst>
          </p:cNvPr>
          <p:cNvSpPr>
            <a:spLocks noGrp="1"/>
          </p:cNvSpPr>
          <p:nvPr>
            <p:ph type="dt" sz="half" idx="10"/>
          </p:nvPr>
        </p:nvSpPr>
        <p:spPr/>
        <p:txBody>
          <a:bodyPr/>
          <a:lstStyle/>
          <a:p>
            <a:fld id="{1D11F462-DC1F-445E-A978-63C8B6397F9A}" type="datetimeFigureOut">
              <a:rPr lang="en-IN" smtClean="0"/>
              <a:t>16-03-2026</a:t>
            </a:fld>
            <a:endParaRPr lang="en-IN"/>
          </a:p>
        </p:txBody>
      </p:sp>
      <p:sp>
        <p:nvSpPr>
          <p:cNvPr id="6" name="Footer Placeholder 5">
            <a:extLst>
              <a:ext uri="{FF2B5EF4-FFF2-40B4-BE49-F238E27FC236}">
                <a16:creationId xmlns:a16="http://schemas.microsoft.com/office/drawing/2014/main" id="{5F71690F-CF2B-87D0-9BB4-5925AED1DF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0DAB18-57E8-1BE4-8EFC-AAC410DB08D8}"/>
              </a:ext>
            </a:extLst>
          </p:cNvPr>
          <p:cNvSpPr>
            <a:spLocks noGrp="1"/>
          </p:cNvSpPr>
          <p:nvPr>
            <p:ph type="sldNum" sz="quarter" idx="12"/>
          </p:nvPr>
        </p:nvSpPr>
        <p:spPr/>
        <p:txBody>
          <a:bodyPr/>
          <a:lstStyle/>
          <a:p>
            <a:fld id="{073E9745-3FF1-45DC-957F-BC1622CE6D93}" type="slidenum">
              <a:rPr lang="en-IN" smtClean="0"/>
              <a:t>‹#›</a:t>
            </a:fld>
            <a:endParaRPr lang="en-IN"/>
          </a:p>
        </p:txBody>
      </p:sp>
    </p:spTree>
    <p:extLst>
      <p:ext uri="{BB962C8B-B14F-4D97-AF65-F5344CB8AC3E}">
        <p14:creationId xmlns:p14="http://schemas.microsoft.com/office/powerpoint/2010/main" val="2801846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36F89-F5A7-AC19-8B76-19457CF9B5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B685145-71F4-FAFC-A5B5-BF4E1A4D9D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68C84BD-4EA0-4E1D-B39A-B7C12D5961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DABC35-E806-F0E5-1252-A38A71D92ABB}"/>
              </a:ext>
            </a:extLst>
          </p:cNvPr>
          <p:cNvSpPr>
            <a:spLocks noGrp="1"/>
          </p:cNvSpPr>
          <p:nvPr>
            <p:ph type="dt" sz="half" idx="10"/>
          </p:nvPr>
        </p:nvSpPr>
        <p:spPr/>
        <p:txBody>
          <a:bodyPr/>
          <a:lstStyle/>
          <a:p>
            <a:fld id="{1D11F462-DC1F-445E-A978-63C8B6397F9A}" type="datetimeFigureOut">
              <a:rPr lang="en-IN" smtClean="0"/>
              <a:t>16-03-2026</a:t>
            </a:fld>
            <a:endParaRPr lang="en-IN"/>
          </a:p>
        </p:txBody>
      </p:sp>
      <p:sp>
        <p:nvSpPr>
          <p:cNvPr id="6" name="Footer Placeholder 5">
            <a:extLst>
              <a:ext uri="{FF2B5EF4-FFF2-40B4-BE49-F238E27FC236}">
                <a16:creationId xmlns:a16="http://schemas.microsoft.com/office/drawing/2014/main" id="{E7C72908-CA4E-B0AA-2D57-29044B49AF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197057-36B1-F14C-D6F1-F7D44C466A88}"/>
              </a:ext>
            </a:extLst>
          </p:cNvPr>
          <p:cNvSpPr>
            <a:spLocks noGrp="1"/>
          </p:cNvSpPr>
          <p:nvPr>
            <p:ph type="sldNum" sz="quarter" idx="12"/>
          </p:nvPr>
        </p:nvSpPr>
        <p:spPr/>
        <p:txBody>
          <a:bodyPr/>
          <a:lstStyle/>
          <a:p>
            <a:fld id="{073E9745-3FF1-45DC-957F-BC1622CE6D93}" type="slidenum">
              <a:rPr lang="en-IN" smtClean="0"/>
              <a:t>‹#›</a:t>
            </a:fld>
            <a:endParaRPr lang="en-IN"/>
          </a:p>
        </p:txBody>
      </p:sp>
    </p:spTree>
    <p:extLst>
      <p:ext uri="{BB962C8B-B14F-4D97-AF65-F5344CB8AC3E}">
        <p14:creationId xmlns:p14="http://schemas.microsoft.com/office/powerpoint/2010/main" val="851094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A8019-7A57-CE04-1172-F98266700B2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EA155B2-EE30-1863-6AB9-F9F5952D26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5E7DD0-E0F7-6656-E235-7DB14B2E1A72}"/>
              </a:ext>
            </a:extLst>
          </p:cNvPr>
          <p:cNvSpPr>
            <a:spLocks noGrp="1"/>
          </p:cNvSpPr>
          <p:nvPr>
            <p:ph type="dt" sz="half" idx="10"/>
          </p:nvPr>
        </p:nvSpPr>
        <p:spPr/>
        <p:txBody>
          <a:bodyPr/>
          <a:lstStyle/>
          <a:p>
            <a:fld id="{1D11F462-DC1F-445E-A978-63C8B6397F9A}" type="datetimeFigureOut">
              <a:rPr lang="en-IN" smtClean="0"/>
              <a:t>16-03-2026</a:t>
            </a:fld>
            <a:endParaRPr lang="en-IN"/>
          </a:p>
        </p:txBody>
      </p:sp>
      <p:sp>
        <p:nvSpPr>
          <p:cNvPr id="5" name="Footer Placeholder 4">
            <a:extLst>
              <a:ext uri="{FF2B5EF4-FFF2-40B4-BE49-F238E27FC236}">
                <a16:creationId xmlns:a16="http://schemas.microsoft.com/office/drawing/2014/main" id="{D7A5E1D8-31E3-0CE5-4797-BE003DE4A5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D208DF-CEA9-2EC1-105F-8B66903FA926}"/>
              </a:ext>
            </a:extLst>
          </p:cNvPr>
          <p:cNvSpPr>
            <a:spLocks noGrp="1"/>
          </p:cNvSpPr>
          <p:nvPr>
            <p:ph type="sldNum" sz="quarter" idx="12"/>
          </p:nvPr>
        </p:nvSpPr>
        <p:spPr/>
        <p:txBody>
          <a:bodyPr/>
          <a:lstStyle/>
          <a:p>
            <a:fld id="{073E9745-3FF1-45DC-957F-BC1622CE6D93}" type="slidenum">
              <a:rPr lang="en-IN" smtClean="0"/>
              <a:t>‹#›</a:t>
            </a:fld>
            <a:endParaRPr lang="en-IN"/>
          </a:p>
        </p:txBody>
      </p:sp>
    </p:spTree>
    <p:extLst>
      <p:ext uri="{BB962C8B-B14F-4D97-AF65-F5344CB8AC3E}">
        <p14:creationId xmlns:p14="http://schemas.microsoft.com/office/powerpoint/2010/main" val="2776997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B496C8-A7B4-A122-CEE4-1A84A8336F3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A7932F-F034-A4AB-AE9E-E46DF955ED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0E8174-25EE-4030-F9C8-3026ED96FC89}"/>
              </a:ext>
            </a:extLst>
          </p:cNvPr>
          <p:cNvSpPr>
            <a:spLocks noGrp="1"/>
          </p:cNvSpPr>
          <p:nvPr>
            <p:ph type="dt" sz="half" idx="10"/>
          </p:nvPr>
        </p:nvSpPr>
        <p:spPr/>
        <p:txBody>
          <a:bodyPr/>
          <a:lstStyle/>
          <a:p>
            <a:fld id="{1D11F462-DC1F-445E-A978-63C8B6397F9A}" type="datetimeFigureOut">
              <a:rPr lang="en-IN" smtClean="0"/>
              <a:t>16-03-2026</a:t>
            </a:fld>
            <a:endParaRPr lang="en-IN"/>
          </a:p>
        </p:txBody>
      </p:sp>
      <p:sp>
        <p:nvSpPr>
          <p:cNvPr id="5" name="Footer Placeholder 4">
            <a:extLst>
              <a:ext uri="{FF2B5EF4-FFF2-40B4-BE49-F238E27FC236}">
                <a16:creationId xmlns:a16="http://schemas.microsoft.com/office/drawing/2014/main" id="{E4A503DA-29A3-214E-68E7-88BBDDF8A6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678861-354B-FBF9-E4AF-A00F4E5A868C}"/>
              </a:ext>
            </a:extLst>
          </p:cNvPr>
          <p:cNvSpPr>
            <a:spLocks noGrp="1"/>
          </p:cNvSpPr>
          <p:nvPr>
            <p:ph type="sldNum" sz="quarter" idx="12"/>
          </p:nvPr>
        </p:nvSpPr>
        <p:spPr/>
        <p:txBody>
          <a:bodyPr/>
          <a:lstStyle/>
          <a:p>
            <a:fld id="{073E9745-3FF1-45DC-957F-BC1622CE6D93}" type="slidenum">
              <a:rPr lang="en-IN" smtClean="0"/>
              <a:t>‹#›</a:t>
            </a:fld>
            <a:endParaRPr lang="en-IN"/>
          </a:p>
        </p:txBody>
      </p:sp>
    </p:spTree>
    <p:extLst>
      <p:ext uri="{BB962C8B-B14F-4D97-AF65-F5344CB8AC3E}">
        <p14:creationId xmlns:p14="http://schemas.microsoft.com/office/powerpoint/2010/main" val="3219785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89E3AB-8706-A14F-2CAB-23B1723FBE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FCA722-A68F-4D35-8A2F-B869D87316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6B23AD-9A6E-70ED-1B01-8159270006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11F462-DC1F-445E-A978-63C8B6397F9A}" type="datetimeFigureOut">
              <a:rPr lang="en-IN" smtClean="0"/>
              <a:t>16-03-2026</a:t>
            </a:fld>
            <a:endParaRPr lang="en-IN"/>
          </a:p>
        </p:txBody>
      </p:sp>
      <p:sp>
        <p:nvSpPr>
          <p:cNvPr id="5" name="Footer Placeholder 4">
            <a:extLst>
              <a:ext uri="{FF2B5EF4-FFF2-40B4-BE49-F238E27FC236}">
                <a16:creationId xmlns:a16="http://schemas.microsoft.com/office/drawing/2014/main" id="{7D39CE41-7BFE-AC89-C665-8184405365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19B6318-49B4-1759-344A-9DEB271AE2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3E9745-3FF1-45DC-957F-BC1622CE6D93}" type="slidenum">
              <a:rPr lang="en-IN" smtClean="0"/>
              <a:t>‹#›</a:t>
            </a:fld>
            <a:endParaRPr lang="en-IN"/>
          </a:p>
        </p:txBody>
      </p:sp>
    </p:spTree>
    <p:extLst>
      <p:ext uri="{BB962C8B-B14F-4D97-AF65-F5344CB8AC3E}">
        <p14:creationId xmlns:p14="http://schemas.microsoft.com/office/powerpoint/2010/main" val="5321378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A799B1-D7B1-5AE4-2CF4-280F20719389}"/>
              </a:ext>
            </a:extLst>
          </p:cNvPr>
          <p:cNvSpPr txBox="1"/>
          <p:nvPr/>
        </p:nvSpPr>
        <p:spPr>
          <a:xfrm>
            <a:off x="515007" y="536027"/>
            <a:ext cx="11372193" cy="3970318"/>
          </a:xfrm>
          <a:prstGeom prst="rect">
            <a:avLst/>
          </a:prstGeom>
          <a:noFill/>
        </p:spPr>
        <p:txBody>
          <a:bodyPr wrap="square">
            <a:spAutoFit/>
          </a:bodyPr>
          <a:lstStyle/>
          <a:p>
            <a:pPr algn="ctr"/>
            <a:br>
              <a:rPr lang="en-US" altLang="en-US" sz="2800" b="1" dirty="0">
                <a:latin typeface="Times New Roman" panose="02020603050405020304" pitchFamily="18" charset="0"/>
                <a:cs typeface="Times New Roman" panose="02020603050405020304" pitchFamily="18" charset="0"/>
                <a:sym typeface="Times New Roman" panose="02020603050405020304" pitchFamily="18" charset="0"/>
              </a:rPr>
            </a:br>
            <a:br>
              <a:rPr lang="en-US" altLang="en-US" sz="2800" b="1" dirty="0">
                <a:latin typeface="Times New Roman" panose="02020603050405020304" pitchFamily="18" charset="0"/>
                <a:cs typeface="Times New Roman" panose="02020603050405020304" pitchFamily="18" charset="0"/>
                <a:sym typeface="Times New Roman" panose="02020603050405020304" pitchFamily="18" charset="0"/>
              </a:rPr>
            </a:br>
            <a:r>
              <a:rPr lang="en-US" altLang="en-US" sz="2800" b="1" dirty="0">
                <a:latin typeface="Times New Roman" panose="02020603050405020304" pitchFamily="18" charset="0"/>
                <a:cs typeface="Times New Roman" panose="02020603050405020304" pitchFamily="18" charset="0"/>
              </a:rPr>
              <a:t>VEHICLE ACCIDENT DETECTION SYSTEM USING ARDUINO</a:t>
            </a:r>
          </a:p>
          <a:p>
            <a:pPr algn="ctr"/>
            <a:br>
              <a:rPr lang="en-US" altLang="en-US" sz="2800" u="sng" dirty="0">
                <a:latin typeface="Times New Roman" panose="02020603050405020304" pitchFamily="18" charset="0"/>
                <a:cs typeface="Times New Roman" panose="02020603050405020304" pitchFamily="18" charset="0"/>
                <a:sym typeface="Times New Roman" panose="02020603050405020304" pitchFamily="18" charset="0"/>
              </a:rPr>
            </a:br>
            <a:r>
              <a:rPr lang="en-US" altLang="en-US" sz="2800" b="1" u="sng"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Submitted by:</a:t>
            </a:r>
            <a:br>
              <a:rPr lang="en-US" altLang="en-US" sz="2800" b="1" u="sng"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br>
            <a:br>
              <a:rPr lang="en-US" altLang="en-US" sz="2800"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br>
            <a:r>
              <a:rPr lang="en-US" altLang="en-US" sz="2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B. </a:t>
            </a:r>
            <a:r>
              <a:rPr lang="en-US" altLang="en-US" sz="2800" i="1">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Aswin</a:t>
            </a:r>
            <a:br>
              <a:rPr lang="en-US" altLang="en-US" sz="2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br>
            <a:br>
              <a:rPr lang="en-US" altLang="en-US" sz="2800" i="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br>
            <a:endParaRPr lang="en-IN" sz="2800" dirty="0"/>
          </a:p>
        </p:txBody>
      </p:sp>
    </p:spTree>
    <p:extLst>
      <p:ext uri="{BB962C8B-B14F-4D97-AF65-F5344CB8AC3E}">
        <p14:creationId xmlns:p14="http://schemas.microsoft.com/office/powerpoint/2010/main" val="3715279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1983C-46B9-1C60-CFDE-9E41A6A2B570}"/>
              </a:ext>
            </a:extLst>
          </p:cNvPr>
          <p:cNvSpPr>
            <a:spLocks noGrp="1"/>
          </p:cNvSpPr>
          <p:nvPr>
            <p:ph type="title"/>
          </p:nvPr>
        </p:nvSpPr>
        <p:spPr/>
        <p:txBody>
          <a:bodyPr/>
          <a:lstStyle/>
          <a:p>
            <a:pPr algn="ctr"/>
            <a:r>
              <a:rPr lang="en-IN" b="1" dirty="0"/>
              <a:t>ABSTRACT</a:t>
            </a:r>
          </a:p>
        </p:txBody>
      </p:sp>
      <p:sp>
        <p:nvSpPr>
          <p:cNvPr id="3" name="Content Placeholder 2">
            <a:extLst>
              <a:ext uri="{FF2B5EF4-FFF2-40B4-BE49-F238E27FC236}">
                <a16:creationId xmlns:a16="http://schemas.microsoft.com/office/drawing/2014/main" id="{F0E0B0C9-EFB8-FD16-8B5D-24C10AB3D09B}"/>
              </a:ext>
            </a:extLst>
          </p:cNvPr>
          <p:cNvSpPr>
            <a:spLocks noGrp="1"/>
          </p:cNvSpPr>
          <p:nvPr>
            <p:ph idx="1"/>
          </p:nvPr>
        </p:nvSpPr>
        <p:spPr>
          <a:xfrm>
            <a:off x="838200" y="1894461"/>
            <a:ext cx="10515600" cy="4351338"/>
          </a:xfrm>
        </p:spPr>
        <p:txBody>
          <a:bodyPr>
            <a:noAutofit/>
          </a:bodyPr>
          <a:lstStyle/>
          <a:p>
            <a:pPr algn="just">
              <a:lnSpc>
                <a:spcPct val="107000"/>
              </a:lnSpc>
              <a:spcAft>
                <a:spcPts val="800"/>
              </a:spcAft>
            </a:pPr>
            <a:r>
              <a:rPr lang="en-US" dirty="0">
                <a:effectLst/>
                <a:latin typeface="Times New Roman" panose="02020603050405020304" pitchFamily="18" charset="0"/>
                <a:ea typeface="Times New Roman" panose="02020603050405020304" pitchFamily="18" charset="0"/>
              </a:rPr>
              <a:t>The medicine reminder app is a mobile application designed to help individuals keep track of their medication schedules. </a:t>
            </a:r>
          </a:p>
          <a:p>
            <a:pPr algn="just">
              <a:lnSpc>
                <a:spcPct val="107000"/>
              </a:lnSpc>
              <a:spcAft>
                <a:spcPts val="800"/>
              </a:spcAft>
            </a:pPr>
            <a:r>
              <a:rPr lang="en-US" dirty="0">
                <a:effectLst/>
                <a:latin typeface="Times New Roman" panose="02020603050405020304" pitchFamily="18" charset="0"/>
                <a:ea typeface="Times New Roman" panose="02020603050405020304" pitchFamily="18" charset="0"/>
              </a:rPr>
              <a:t>The app is equipped with a user-friendly interface that allows users to input their medication regimen and set reminders for when to take their medication. </a:t>
            </a:r>
          </a:p>
          <a:p>
            <a:pPr algn="just">
              <a:lnSpc>
                <a:spcPct val="107000"/>
              </a:lnSpc>
              <a:spcAft>
                <a:spcPts val="800"/>
              </a:spcAft>
            </a:pPr>
            <a:r>
              <a:rPr lang="en-US" dirty="0">
                <a:effectLst/>
                <a:latin typeface="Times New Roman" panose="02020603050405020304" pitchFamily="18" charset="0"/>
                <a:ea typeface="Times New Roman" panose="02020603050405020304" pitchFamily="18" charset="0"/>
              </a:rPr>
              <a:t>The app can be highly beneficial for individuals with chronic illnesses, elderly individuals, and people with complex medication regimes </a:t>
            </a:r>
            <a:endParaRPr lang="en-IN" sz="4000" dirty="0"/>
          </a:p>
        </p:txBody>
      </p:sp>
    </p:spTree>
    <p:extLst>
      <p:ext uri="{BB962C8B-B14F-4D97-AF65-F5344CB8AC3E}">
        <p14:creationId xmlns:p14="http://schemas.microsoft.com/office/powerpoint/2010/main" val="1149087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C734C-0631-C62D-DE82-9C366DA07E36}"/>
              </a:ext>
            </a:extLst>
          </p:cNvPr>
          <p:cNvSpPr>
            <a:spLocks noGrp="1"/>
          </p:cNvSpPr>
          <p:nvPr>
            <p:ph type="title"/>
          </p:nvPr>
        </p:nvSpPr>
        <p:spPr>
          <a:xfrm>
            <a:off x="838200" y="211120"/>
            <a:ext cx="10515600" cy="1325563"/>
          </a:xfrm>
        </p:spPr>
        <p:txBody>
          <a:bodyPr/>
          <a:lstStyle/>
          <a:p>
            <a:pPr algn="ctr"/>
            <a:r>
              <a:rPr lang="en-IN" b="1" dirty="0"/>
              <a:t>INTRODUCTION</a:t>
            </a:r>
          </a:p>
        </p:txBody>
      </p:sp>
      <p:sp>
        <p:nvSpPr>
          <p:cNvPr id="3" name="Content Placeholder 2">
            <a:extLst>
              <a:ext uri="{FF2B5EF4-FFF2-40B4-BE49-F238E27FC236}">
                <a16:creationId xmlns:a16="http://schemas.microsoft.com/office/drawing/2014/main" id="{CF881425-0B70-96BC-EF75-749E04DDA19A}"/>
              </a:ext>
            </a:extLst>
          </p:cNvPr>
          <p:cNvSpPr>
            <a:spLocks noGrp="1"/>
          </p:cNvSpPr>
          <p:nvPr>
            <p:ph idx="1"/>
          </p:nvPr>
        </p:nvSpPr>
        <p:spPr>
          <a:xfrm>
            <a:off x="838200" y="1456291"/>
            <a:ext cx="10515600" cy="5299342"/>
          </a:xfrm>
        </p:spPr>
        <p:txBody>
          <a:bodyPr>
            <a:normAutofit lnSpcReduction="10000"/>
          </a:bodyPr>
          <a:lstStyle/>
          <a:p>
            <a:pPr algn="just">
              <a:lnSpc>
                <a:spcPct val="107000"/>
              </a:lnSpc>
              <a:spcAft>
                <a:spcPts val="800"/>
              </a:spcAf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In today's busy world, we often forget to take our medications at the right time.</a:t>
            </a:r>
          </a:p>
          <a:p>
            <a:pPr algn="just">
              <a:lnSpc>
                <a:spcPct val="107000"/>
              </a:lnSpc>
              <a:spcAft>
                <a:spcPts val="800"/>
              </a:spcAf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This can lead to serious health problems, especially for individuals with chronic illnesses.</a:t>
            </a:r>
          </a:p>
          <a:p>
            <a:pPr algn="just">
              <a:lnSpc>
                <a:spcPct val="107000"/>
              </a:lnSpc>
              <a:spcAft>
                <a:spcPts val="800"/>
              </a:spcAf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To address this issue, we propose a Medicine Reminder Application that will help individuals keep track of their medication schedule.</a:t>
            </a:r>
          </a:p>
          <a:p>
            <a:pPr algn="just">
              <a:lnSpc>
                <a:spcPct val="107000"/>
              </a:lnSpc>
              <a:spcAft>
                <a:spcPts val="800"/>
              </a:spcAf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The World Health Organization (WHO) defines chronic illness as a long-term condition that can be managed, but not cured. </a:t>
            </a:r>
          </a:p>
          <a:p>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Living with a chronic illness can be very challenging, both physically and emotionally. </a:t>
            </a: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8583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9B10A-EBD1-AF20-186C-366C58F8A59C}"/>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PROJECT OVERVIEW</a:t>
            </a:r>
          </a:p>
        </p:txBody>
      </p:sp>
      <p:sp>
        <p:nvSpPr>
          <p:cNvPr id="4" name="TextBox 3">
            <a:extLst>
              <a:ext uri="{FF2B5EF4-FFF2-40B4-BE49-F238E27FC236}">
                <a16:creationId xmlns:a16="http://schemas.microsoft.com/office/drawing/2014/main" id="{4C8335B2-A02B-12BE-8E11-0A1C6A8FAF41}"/>
              </a:ext>
            </a:extLst>
          </p:cNvPr>
          <p:cNvSpPr txBox="1"/>
          <p:nvPr/>
        </p:nvSpPr>
        <p:spPr>
          <a:xfrm>
            <a:off x="915201" y="1690688"/>
            <a:ext cx="10769867" cy="1444306"/>
          </a:xfrm>
          <a:prstGeom prst="rect">
            <a:avLst/>
          </a:prstGeom>
          <a:noFill/>
        </p:spPr>
        <p:txBody>
          <a:bodyPr wrap="square">
            <a:spAutoFit/>
          </a:bodyPr>
          <a:lstStyle/>
          <a:p>
            <a:pPr marL="285750" indent="-285750" algn="just">
              <a:lnSpc>
                <a:spcPct val="107000"/>
              </a:lnSpc>
              <a:spcAft>
                <a:spcPts val="800"/>
              </a:spcAft>
              <a:buFont typeface="Arial" panose="020B0604020202020204" pitchFamily="34" charset="0"/>
              <a:buChar char="•"/>
            </a:pPr>
            <a:r>
              <a:rPr lang="en-IN" sz="2800" dirty="0">
                <a:effectLst/>
                <a:latin typeface="Times New Roman" panose="02020603050405020304" pitchFamily="18" charset="0"/>
                <a:ea typeface="Times New Roman" panose="02020603050405020304" pitchFamily="18" charset="0"/>
              </a:rPr>
              <a:t>The purpose of this project is to develop a medicine reminder application that helps users manage their medication schedule and stay on track with their prescriptions. </a:t>
            </a:r>
            <a:endParaRPr lang="en-IN" sz="4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93614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CC36E49-116D-E613-24F9-B178DFF379EB}"/>
              </a:ext>
            </a:extLst>
          </p:cNvPr>
          <p:cNvSpPr txBox="1">
            <a:spLocks/>
          </p:cNvSpPr>
          <p:nvPr/>
        </p:nvSpPr>
        <p:spPr>
          <a:xfrm>
            <a:off x="838200" y="704954"/>
            <a:ext cx="10515600" cy="54480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OBJECTIVE OF </a:t>
            </a:r>
            <a:r>
              <a:rPr lang="en-US" sz="3600" b="1" dirty="0">
                <a:latin typeface="Times New Roman" panose="02020603050405020304" pitchFamily="18" charset="0"/>
                <a:ea typeface="Calibri" panose="020F0502020204030204" pitchFamily="34" charset="0"/>
                <a:cs typeface="Times New Roman" panose="02020603050405020304" pitchFamily="18" charset="0"/>
              </a:rPr>
              <a:t>THIS</a:t>
            </a: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 PROJECT</a:t>
            </a:r>
          </a:p>
          <a:p>
            <a:pPr marL="0" indent="0" algn="ctr">
              <a:buNone/>
            </a:pPr>
            <a:endParaRPr lang="en-US" b="1"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IN" dirty="0">
                <a:effectLst/>
                <a:latin typeface="Times New Roman" panose="02020603050405020304" pitchFamily="18" charset="0"/>
                <a:ea typeface="Times New Roman" panose="02020603050405020304" pitchFamily="18" charset="0"/>
              </a:rPr>
              <a:t>The objective of a medicine reminder application is to help users manage their medication schedules effectively and improve medication adherence.</a:t>
            </a:r>
            <a:endParaRPr lang="en-US" sz="4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88454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ED58AAE-B30E-FB23-9CF0-69CC6471B3EA}"/>
              </a:ext>
            </a:extLst>
          </p:cNvPr>
          <p:cNvSpPr txBox="1">
            <a:spLocks/>
          </p:cNvSpPr>
          <p:nvPr/>
        </p:nvSpPr>
        <p:spPr>
          <a:xfrm>
            <a:off x="838200" y="704954"/>
            <a:ext cx="10515600" cy="54480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4400" b="1" dirty="0">
              <a:latin typeface="Times New Roman" panose="02020603050405020304" pitchFamily="18" charset="0"/>
              <a:cs typeface="Times New Roman" panose="02020603050405020304" pitchFamily="18" charset="0"/>
            </a:endParaRPr>
          </a:p>
          <a:p>
            <a:pPr marL="0" indent="0" algn="ctr">
              <a:buNone/>
            </a:pPr>
            <a:endParaRPr lang="en-US" sz="4400" b="1" dirty="0">
              <a:latin typeface="Times New Roman" panose="02020603050405020304" pitchFamily="18" charset="0"/>
              <a:cs typeface="Times New Roman" panose="02020603050405020304" pitchFamily="18" charset="0"/>
            </a:endParaRPr>
          </a:p>
          <a:p>
            <a:pPr marL="0" indent="0" algn="ctr">
              <a:buNone/>
            </a:pPr>
            <a:endParaRPr lang="en-US" sz="4400" b="1" dirty="0">
              <a:latin typeface="Times New Roman" panose="02020603050405020304" pitchFamily="18" charset="0"/>
              <a:cs typeface="Times New Roman" panose="02020603050405020304" pitchFamily="18" charset="0"/>
            </a:endParaRPr>
          </a:p>
          <a:p>
            <a:pPr marL="0" indent="0" algn="ctr">
              <a:buNone/>
            </a:pPr>
            <a:r>
              <a:rPr lang="en-US" sz="44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2124273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522DA41D-F858-1B52-2065-6CDE022A499B}"/>
              </a:ext>
            </a:extLst>
          </p:cNvPr>
          <p:cNvSpPr txBox="1">
            <a:spLocks/>
          </p:cNvSpPr>
          <p:nvPr/>
        </p:nvSpPr>
        <p:spPr>
          <a:xfrm>
            <a:off x="838200" y="704954"/>
            <a:ext cx="10515600" cy="54480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4400" b="1" dirty="0">
              <a:latin typeface="Times New Roman" panose="02020603050405020304" pitchFamily="18" charset="0"/>
              <a:cs typeface="Times New Roman" panose="02020603050405020304" pitchFamily="18" charset="0"/>
            </a:endParaRPr>
          </a:p>
          <a:p>
            <a:pPr marL="0" indent="0" algn="ctr">
              <a:buNone/>
            </a:pPr>
            <a:endParaRPr lang="en-US" sz="4400" b="1" dirty="0">
              <a:latin typeface="Times New Roman" panose="02020603050405020304" pitchFamily="18" charset="0"/>
              <a:cs typeface="Times New Roman" panose="02020603050405020304" pitchFamily="18" charset="0"/>
            </a:endParaRPr>
          </a:p>
          <a:p>
            <a:pPr marL="0" indent="0" algn="ctr">
              <a:buNone/>
            </a:pPr>
            <a:endParaRPr lang="en-US" sz="4400" b="1" dirty="0">
              <a:latin typeface="Times New Roman" panose="02020603050405020304" pitchFamily="18" charset="0"/>
              <a:cs typeface="Times New Roman" panose="02020603050405020304" pitchFamily="18" charset="0"/>
            </a:endParaRPr>
          </a:p>
          <a:p>
            <a:pPr marL="0" indent="0" algn="ctr">
              <a:buNone/>
            </a:pPr>
            <a:r>
              <a:rPr lang="en-US" sz="4400" b="1" dirty="0">
                <a:latin typeface="Times New Roman" panose="02020603050405020304" pitchFamily="18" charset="0"/>
                <a:cs typeface="Times New Roman" panose="02020603050405020304" pitchFamily="18" charset="0"/>
              </a:rPr>
              <a:t>SYSTEM REQUIREMENTS</a:t>
            </a:r>
          </a:p>
        </p:txBody>
      </p:sp>
    </p:spTree>
    <p:extLst>
      <p:ext uri="{BB962C8B-B14F-4D97-AF65-F5344CB8AC3E}">
        <p14:creationId xmlns:p14="http://schemas.microsoft.com/office/powerpoint/2010/main" val="3482718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B4785801-8CBF-03DC-598A-62E78F23A2A7}"/>
              </a:ext>
            </a:extLst>
          </p:cNvPr>
          <p:cNvSpPr txBox="1">
            <a:spLocks/>
          </p:cNvSpPr>
          <p:nvPr/>
        </p:nvSpPr>
        <p:spPr>
          <a:xfrm>
            <a:off x="754117" y="810057"/>
            <a:ext cx="10515600" cy="566431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HARDWARE REQUIREMENTS</a:t>
            </a:r>
          </a:p>
          <a:p>
            <a:pPr marL="342900" lvl="0" indent="-342900">
              <a:lnSpc>
                <a:spcPct val="150000"/>
              </a:lnSpc>
              <a:buSzPts val="1000"/>
              <a:buFont typeface="Symbol" panose="05050102010706020507" pitchFamily="18" charset="2"/>
              <a:buChar char=""/>
              <a:tabLst>
                <a:tab pos="45720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64-bit Microsoft® Windows® 8/10.</a:t>
            </a:r>
          </a:p>
          <a:p>
            <a:pPr marL="342900" lvl="0" indent="-342900">
              <a:lnSpc>
                <a:spcPct val="150000"/>
              </a:lnSpc>
              <a:buSzPts val="1000"/>
              <a:buFont typeface="Symbol" panose="05050102010706020507" pitchFamily="18" charset="2"/>
              <a:buChar char=""/>
              <a:tabLst>
                <a:tab pos="45720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x86_64 CPU architecture; 2nd generation Intel Core or newer, or AMD CPU with support for a Windows </a:t>
            </a: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Hypervisor.Framework</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L="342900" lvl="0" indent="-342900">
              <a:lnSpc>
                <a:spcPct val="150000"/>
              </a:lnSpc>
              <a:buSzPts val="1000"/>
              <a:buFont typeface="Symbol" panose="05050102010706020507" pitchFamily="18" charset="2"/>
              <a:buChar char=""/>
              <a:tabLst>
                <a:tab pos="45720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8 GB RAM or more.</a:t>
            </a:r>
          </a:p>
          <a:p>
            <a:pPr marL="342900" lvl="0" indent="-342900">
              <a:lnSpc>
                <a:spcPct val="150000"/>
              </a:lnSpc>
              <a:buSzPts val="1000"/>
              <a:buFont typeface="Symbol" panose="05050102010706020507" pitchFamily="18" charset="2"/>
              <a:buChar char=""/>
              <a:tabLst>
                <a:tab pos="45720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8 GB of available disk space minimum (Flutter + Android Emulator)</a:t>
            </a:r>
          </a:p>
          <a:p>
            <a:pPr marL="342900" lvl="0" indent="-342900">
              <a:lnSpc>
                <a:spcPct val="150000"/>
              </a:lnSpc>
              <a:buSzPts val="1000"/>
              <a:buFont typeface="Symbol" panose="05050102010706020507" pitchFamily="18" charset="2"/>
              <a:buChar char=""/>
              <a:tabLst>
                <a:tab pos="45720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1280 x 800 minimum screen resolution.</a:t>
            </a:r>
          </a:p>
          <a:p>
            <a:pPr marL="0" lvl="0" indent="0">
              <a:buNone/>
            </a:pPr>
            <a:endParaRPr lang="en-IN" sz="4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sz="3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16537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BD2D01D6-DF1E-8950-1660-1EE498A78D64}"/>
              </a:ext>
            </a:extLst>
          </p:cNvPr>
          <p:cNvSpPr txBox="1">
            <a:spLocks/>
          </p:cNvSpPr>
          <p:nvPr/>
        </p:nvSpPr>
        <p:spPr>
          <a:xfrm>
            <a:off x="838200" y="704954"/>
            <a:ext cx="10515600" cy="54480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SOFTWARE REQUIREMENTS</a:t>
            </a:r>
          </a:p>
          <a:p>
            <a:pPr marL="0" indent="0" algn="ctr">
              <a:buNone/>
            </a:pPr>
            <a:endParaRPr lang="en-US" sz="36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50000"/>
              </a:lnSpc>
              <a:buFont typeface="Symbol" panose="05050102010706020507" pitchFamily="18" charset="2"/>
              <a:buChar char=""/>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Front End: Flutter (Flutter 3.3.0 and above)</a:t>
            </a:r>
          </a:p>
          <a:p>
            <a:pPr marL="342900" lvl="0" indent="-342900">
              <a:lnSpc>
                <a:spcPct val="150000"/>
              </a:lnSpc>
              <a:spcAft>
                <a:spcPts val="800"/>
              </a:spcAft>
              <a:buFont typeface="Symbol" panose="05050102010706020507" pitchFamily="18" charset="2"/>
              <a:buChar char=""/>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OS: Android / IOS</a:t>
            </a:r>
          </a:p>
          <a:p>
            <a:pPr marL="0" indent="0" algn="just">
              <a:buNone/>
            </a:pPr>
            <a:endParaRPr lang="en-US" dirty="0">
              <a:latin typeface="Times New Roman" panose="02020603050405020304" pitchFamily="18" charset="0"/>
              <a:cs typeface="Times New Roman" panose="02020603050405020304" pitchFamily="18" charset="0"/>
            </a:endParaRPr>
          </a:p>
          <a:p>
            <a:pPr algn="just"/>
            <a:endParaRPr lang="en-US" sz="3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31493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C43FEDE-730A-CF48-58F7-DB1D306DA6BC}"/>
              </a:ext>
            </a:extLst>
          </p:cNvPr>
          <p:cNvSpPr txBox="1">
            <a:spLocks/>
          </p:cNvSpPr>
          <p:nvPr/>
        </p:nvSpPr>
        <p:spPr>
          <a:xfrm>
            <a:off x="838200" y="704954"/>
            <a:ext cx="10515600" cy="54480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4400" b="1" dirty="0">
              <a:latin typeface="Times New Roman" panose="02020603050405020304" pitchFamily="18" charset="0"/>
              <a:cs typeface="Times New Roman" panose="02020603050405020304" pitchFamily="18" charset="0"/>
            </a:endParaRPr>
          </a:p>
          <a:p>
            <a:pPr marL="0" indent="0" algn="ctr">
              <a:buNone/>
            </a:pPr>
            <a:endParaRPr lang="en-US" sz="4400" b="1" dirty="0">
              <a:latin typeface="Times New Roman" panose="02020603050405020304" pitchFamily="18" charset="0"/>
              <a:cs typeface="Times New Roman" panose="02020603050405020304" pitchFamily="18" charset="0"/>
            </a:endParaRPr>
          </a:p>
          <a:p>
            <a:pPr marL="0" indent="0" algn="ctr">
              <a:buNone/>
            </a:pPr>
            <a:endParaRPr lang="en-US" sz="4400" b="1" dirty="0">
              <a:latin typeface="Times New Roman" panose="02020603050405020304" pitchFamily="18" charset="0"/>
              <a:cs typeface="Times New Roman" panose="02020603050405020304" pitchFamily="18" charset="0"/>
            </a:endParaRPr>
          </a:p>
          <a:p>
            <a:pPr marL="0" indent="0" algn="ctr">
              <a:buNone/>
            </a:pPr>
            <a:r>
              <a:rPr lang="en-US" sz="4400" b="1" dirty="0">
                <a:latin typeface="Times New Roman" panose="02020603050405020304" pitchFamily="18" charset="0"/>
                <a:cs typeface="Times New Roman" panose="02020603050405020304" pitchFamily="18" charset="0"/>
              </a:rPr>
              <a:t>SYSTEM ANALYSIS</a:t>
            </a:r>
          </a:p>
        </p:txBody>
      </p:sp>
    </p:spTree>
    <p:extLst>
      <p:ext uri="{BB962C8B-B14F-4D97-AF65-F5344CB8AC3E}">
        <p14:creationId xmlns:p14="http://schemas.microsoft.com/office/powerpoint/2010/main" val="3506528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60210-2848-EF1F-D2EB-DB8F53E5B960}"/>
              </a:ext>
            </a:extLst>
          </p:cNvPr>
          <p:cNvSpPr txBox="1">
            <a:spLocks/>
          </p:cNvSpPr>
          <p:nvPr/>
        </p:nvSpPr>
        <p:spPr>
          <a:xfrm>
            <a:off x="838200" y="404881"/>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Times New Roman" panose="02020603050405020304" pitchFamily="18" charset="0"/>
                <a:cs typeface="Times New Roman" panose="02020603050405020304" pitchFamily="18" charset="0"/>
              </a:rPr>
              <a:t> EXISTING SYSTEM</a:t>
            </a:r>
          </a:p>
        </p:txBody>
      </p:sp>
      <p:sp>
        <p:nvSpPr>
          <p:cNvPr id="3" name="Content Placeholder 2">
            <a:extLst>
              <a:ext uri="{FF2B5EF4-FFF2-40B4-BE49-F238E27FC236}">
                <a16:creationId xmlns:a16="http://schemas.microsoft.com/office/drawing/2014/main" id="{6282686D-2F4B-AF92-D255-F563A974C93F}"/>
              </a:ext>
            </a:extLst>
          </p:cNvPr>
          <p:cNvSpPr txBox="1">
            <a:spLocks/>
          </p:cNvSpPr>
          <p:nvPr/>
        </p:nvSpPr>
        <p:spPr>
          <a:xfrm>
            <a:off x="838200" y="1562470"/>
            <a:ext cx="10515600" cy="513129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7000"/>
              </a:lnSpc>
              <a:spcAft>
                <a:spcPts val="800"/>
              </a:spcAft>
            </a:pPr>
            <a:r>
              <a:rPr lang="en-IN" dirty="0">
                <a:effectLst/>
                <a:latin typeface="Times New Roman" panose="02020603050405020304" pitchFamily="18" charset="0"/>
                <a:ea typeface="Calibri" panose="020F0502020204030204" pitchFamily="34" charset="0"/>
                <a:cs typeface="Times New Roman" panose="02020603050405020304" pitchFamily="18" charset="0"/>
              </a:rPr>
              <a:t>There are many solutions proposed for the concerned problem and each one have some advantage over others.</a:t>
            </a:r>
          </a:p>
          <a:p>
            <a:pPr algn="just">
              <a:lnSpc>
                <a:spcPct val="107000"/>
              </a:lnSpc>
              <a:spcAft>
                <a:spcPts val="800"/>
              </a:spcAf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These applications offer a range of features and functionalities, including medication schedules, reminders, refill alerts, and prescription tracking.</a:t>
            </a:r>
          </a:p>
          <a:p>
            <a:pPr algn="just">
              <a:lnSpc>
                <a:spcPct val="107000"/>
              </a:lnSpc>
              <a:spcAft>
                <a:spcPts val="800"/>
              </a:spcAft>
            </a:pP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12667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A7BBE-B0CD-D11E-FDB3-D498E5C8A5FB}"/>
              </a:ext>
            </a:extLst>
          </p:cNvPr>
          <p:cNvSpPr txBox="1">
            <a:spLocks/>
          </p:cNvSpPr>
          <p:nvPr/>
        </p:nvSpPr>
        <p:spPr>
          <a:xfrm>
            <a:off x="838200" y="404881"/>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Times New Roman" panose="02020603050405020304" pitchFamily="18" charset="0"/>
                <a:cs typeface="Times New Roman" panose="02020603050405020304" pitchFamily="18" charset="0"/>
              </a:rPr>
              <a:t>DISADVANTAGES OF EXISTING SYSTEMS</a:t>
            </a:r>
          </a:p>
          <a:p>
            <a:pPr algn="ctr"/>
            <a:endParaRPr lang="en-US" b="1" dirty="0">
              <a:latin typeface="Times New Roman" panose="02020603050405020304" pitchFamily="18" charset="0"/>
              <a:cs typeface="Times New Roman" panose="02020603050405020304" pitchFamily="18" charset="0"/>
            </a:endParaRPr>
          </a:p>
          <a:p>
            <a:pPr algn="ctr"/>
            <a:endParaRPr lang="en-US" b="1" dirty="0">
              <a:latin typeface="Times New Roman" panose="02020603050405020304" pitchFamily="18" charset="0"/>
              <a:cs typeface="Times New Roman" panose="02020603050405020304" pitchFamily="18" charset="0"/>
            </a:endParaRPr>
          </a:p>
          <a:p>
            <a:pPr algn="ct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EB81F02-9202-BF43-E635-BED97320D345}"/>
              </a:ext>
            </a:extLst>
          </p:cNvPr>
          <p:cNvSpPr txBox="1">
            <a:spLocks/>
          </p:cNvSpPr>
          <p:nvPr/>
        </p:nvSpPr>
        <p:spPr>
          <a:xfrm>
            <a:off x="753896" y="2175874"/>
            <a:ext cx="10515600" cy="363634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indent="-342900" algn="just">
              <a:lnSpc>
                <a:spcPct val="150000"/>
              </a:lnSpc>
              <a:buFont typeface="Symbol" panose="05050102010706020507" pitchFamily="18" charset="2"/>
              <a:buChar char=""/>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Privacy Issues</a:t>
            </a:r>
          </a:p>
          <a:p>
            <a:pPr marL="342900" lvl="0" indent="-342900" algn="just">
              <a:lnSpc>
                <a:spcPct val="150000"/>
              </a:lnSpc>
              <a:spcAft>
                <a:spcPts val="800"/>
              </a:spcAft>
              <a:buFont typeface="Symbol" panose="05050102010706020507" pitchFamily="18" charset="2"/>
              <a:buChar char=""/>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Not responding Properly </a:t>
            </a:r>
          </a:p>
        </p:txBody>
      </p:sp>
    </p:spTree>
    <p:extLst>
      <p:ext uri="{BB962C8B-B14F-4D97-AF65-F5344CB8AC3E}">
        <p14:creationId xmlns:p14="http://schemas.microsoft.com/office/powerpoint/2010/main" val="2331848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A2D5A-D5E8-EF6C-435E-31DD62F65859}"/>
              </a:ext>
            </a:extLst>
          </p:cNvPr>
          <p:cNvSpPr txBox="1">
            <a:spLocks/>
          </p:cNvSpPr>
          <p:nvPr/>
        </p:nvSpPr>
        <p:spPr>
          <a:xfrm>
            <a:off x="838200" y="404881"/>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CCD5122A-56ED-8C2A-B868-A4445FF8273C}"/>
              </a:ext>
            </a:extLst>
          </p:cNvPr>
          <p:cNvSpPr txBox="1">
            <a:spLocks/>
          </p:cNvSpPr>
          <p:nvPr/>
        </p:nvSpPr>
        <p:spPr>
          <a:xfrm>
            <a:off x="838200" y="1562470"/>
            <a:ext cx="10515600" cy="513129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7000"/>
              </a:lnSpc>
              <a:spcAft>
                <a:spcPts val="800"/>
              </a:spcAft>
            </a:pPr>
            <a:r>
              <a:rPr lang="en-IN" dirty="0">
                <a:effectLst/>
                <a:latin typeface="Times New Roman" panose="02020603050405020304" pitchFamily="18" charset="0"/>
                <a:ea typeface="Times New Roman" panose="02020603050405020304" pitchFamily="18" charset="0"/>
              </a:rPr>
              <a:t>The proposed system is a medicine reminder application designed to help individuals keep track of their medication schedules.</a:t>
            </a:r>
          </a:p>
          <a:p>
            <a:pPr algn="just">
              <a:lnSpc>
                <a:spcPct val="107000"/>
              </a:lnSpc>
              <a:spcAft>
                <a:spcPts val="800"/>
              </a:spcAft>
            </a:pPr>
            <a:r>
              <a:rPr lang="en-IN" dirty="0">
                <a:effectLst/>
                <a:latin typeface="Times New Roman" panose="02020603050405020304" pitchFamily="18" charset="0"/>
                <a:ea typeface="Times New Roman" panose="02020603050405020304" pitchFamily="18" charset="0"/>
              </a:rPr>
              <a:t>The main objective of the medicine reminder application is to help users manage their medication schedules effectively, so they do not miss a dose or take the wrong medication at the wrong time.</a:t>
            </a:r>
          </a:p>
          <a:p>
            <a:pPr algn="just">
              <a:lnSpc>
                <a:spcPct val="107000"/>
              </a:lnSpc>
              <a:spcAft>
                <a:spcPts val="800"/>
              </a:spcAft>
            </a:pPr>
            <a:r>
              <a:rPr lang="en-IN" dirty="0">
                <a:effectLst/>
                <a:latin typeface="Times New Roman" panose="02020603050405020304" pitchFamily="18" charset="0"/>
                <a:ea typeface="Times New Roman" panose="02020603050405020304" pitchFamily="18" charset="0"/>
              </a:rPr>
              <a:t> The system will provide users with reminders to take their medication in correct </a:t>
            </a:r>
            <a:r>
              <a:rPr lang="en-IN" dirty="0">
                <a:latin typeface="Times New Roman" panose="02020603050405020304" pitchFamily="18" charset="0"/>
                <a:ea typeface="Times New Roman" panose="02020603050405020304" pitchFamily="18" charset="0"/>
              </a:rPr>
              <a:t>timing.</a:t>
            </a:r>
            <a:endParaRPr lang="en-IN" sz="4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73826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C8D43-9A1D-C049-B6F4-A64835B2B2C8}"/>
              </a:ext>
            </a:extLst>
          </p:cNvPr>
          <p:cNvSpPr txBox="1">
            <a:spLocks/>
          </p:cNvSpPr>
          <p:nvPr/>
        </p:nvSpPr>
        <p:spPr>
          <a:xfrm>
            <a:off x="838200" y="404881"/>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Times New Roman" panose="02020603050405020304" pitchFamily="18" charset="0"/>
                <a:cs typeface="Times New Roman" panose="02020603050405020304" pitchFamily="18" charset="0"/>
              </a:rPr>
              <a:t>ADVANTAGES OF THE PROPOSED SYSTEM</a:t>
            </a:r>
          </a:p>
        </p:txBody>
      </p:sp>
      <p:sp>
        <p:nvSpPr>
          <p:cNvPr id="3" name="Content Placeholder 2">
            <a:extLst>
              <a:ext uri="{FF2B5EF4-FFF2-40B4-BE49-F238E27FC236}">
                <a16:creationId xmlns:a16="http://schemas.microsoft.com/office/drawing/2014/main" id="{461F083B-67D3-3152-B850-9E12B0B6B15C}"/>
              </a:ext>
            </a:extLst>
          </p:cNvPr>
          <p:cNvSpPr txBox="1">
            <a:spLocks/>
          </p:cNvSpPr>
          <p:nvPr/>
        </p:nvSpPr>
        <p:spPr>
          <a:xfrm>
            <a:off x="1030706" y="2005232"/>
            <a:ext cx="10515600" cy="513129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indent="-342900" algn="just">
              <a:lnSpc>
                <a:spcPct val="150000"/>
              </a:lnSpc>
              <a:buFont typeface="Symbol" panose="05050102010706020507" pitchFamily="18" charset="2"/>
              <a:buChar char=""/>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The users will get the notifications through SMS.</a:t>
            </a:r>
          </a:p>
          <a:p>
            <a:pPr marL="342900" lvl="0" indent="-342900" algn="just">
              <a:lnSpc>
                <a:spcPct val="150000"/>
              </a:lnSpc>
              <a:buFont typeface="Symbol" panose="05050102010706020507" pitchFamily="18" charset="2"/>
              <a:buChar char=""/>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Reduces medication errors.</a:t>
            </a:r>
          </a:p>
          <a:p>
            <a:pPr marL="342900" lvl="0" indent="-342900" algn="just">
              <a:lnSpc>
                <a:spcPct val="150000"/>
              </a:lnSpc>
              <a:spcAft>
                <a:spcPts val="800"/>
              </a:spcAft>
              <a:buFont typeface="Symbol" panose="05050102010706020507" pitchFamily="18" charset="2"/>
              <a:buChar char=""/>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Improves medication adherence.</a:t>
            </a:r>
          </a:p>
        </p:txBody>
      </p:sp>
    </p:spTree>
    <p:extLst>
      <p:ext uri="{BB962C8B-B14F-4D97-AF65-F5344CB8AC3E}">
        <p14:creationId xmlns:p14="http://schemas.microsoft.com/office/powerpoint/2010/main" val="2586537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B5BB021C-0C37-D5F7-95C3-2C3B35BD01E1}"/>
              </a:ext>
            </a:extLst>
          </p:cNvPr>
          <p:cNvSpPr txBox="1">
            <a:spLocks/>
          </p:cNvSpPr>
          <p:nvPr/>
        </p:nvSpPr>
        <p:spPr>
          <a:xfrm>
            <a:off x="838200" y="704954"/>
            <a:ext cx="10515600" cy="54480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4400" b="1" dirty="0">
              <a:latin typeface="Times New Roman" panose="02020603050405020304" pitchFamily="18" charset="0"/>
              <a:cs typeface="Times New Roman" panose="02020603050405020304" pitchFamily="18" charset="0"/>
            </a:endParaRPr>
          </a:p>
          <a:p>
            <a:pPr marL="0" indent="0" algn="ctr">
              <a:buNone/>
            </a:pPr>
            <a:endParaRPr lang="en-US" sz="4400" b="1" dirty="0">
              <a:latin typeface="Times New Roman" panose="02020603050405020304" pitchFamily="18" charset="0"/>
              <a:cs typeface="Times New Roman" panose="02020603050405020304" pitchFamily="18" charset="0"/>
            </a:endParaRPr>
          </a:p>
          <a:p>
            <a:pPr marL="0" indent="0" algn="ctr">
              <a:buNone/>
            </a:pPr>
            <a:endParaRPr lang="en-US" sz="4400" b="1" dirty="0">
              <a:latin typeface="Times New Roman" panose="02020603050405020304" pitchFamily="18" charset="0"/>
              <a:cs typeface="Times New Roman" panose="02020603050405020304" pitchFamily="18" charset="0"/>
            </a:endParaRPr>
          </a:p>
          <a:p>
            <a:pPr marL="0" indent="0" algn="ctr">
              <a:buNone/>
            </a:pPr>
            <a:r>
              <a:rPr lang="en-US" sz="4400" b="1" dirty="0">
                <a:latin typeface="Times New Roman" panose="02020603050405020304" pitchFamily="18" charset="0"/>
                <a:cs typeface="Times New Roman" panose="02020603050405020304" pitchFamily="18" charset="0"/>
              </a:rPr>
              <a:t>SYSTEM DESIGN</a:t>
            </a:r>
          </a:p>
        </p:txBody>
      </p:sp>
    </p:spTree>
    <p:extLst>
      <p:ext uri="{BB962C8B-B14F-4D97-AF65-F5344CB8AC3E}">
        <p14:creationId xmlns:p14="http://schemas.microsoft.com/office/powerpoint/2010/main" val="2336831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7201A989-341C-A2B4-3935-A8422CD320F9}"/>
              </a:ext>
            </a:extLst>
          </p:cNvPr>
          <p:cNvSpPr txBox="1">
            <a:spLocks/>
          </p:cNvSpPr>
          <p:nvPr/>
        </p:nvSpPr>
        <p:spPr>
          <a:xfrm>
            <a:off x="890751" y="2870085"/>
            <a:ext cx="10681139" cy="272404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400" b="1" dirty="0">
                <a:effectLst/>
                <a:latin typeface="Times New Roman" panose="02020603050405020304" pitchFamily="18" charset="0"/>
                <a:ea typeface="Calibri" panose="020F0502020204030204" pitchFamily="34" charset="0"/>
                <a:cs typeface="Times New Roman" panose="02020603050405020304" pitchFamily="18" charset="0"/>
              </a:rPr>
              <a:t>SYSTEM ARCHITECTURE</a:t>
            </a:r>
          </a:p>
        </p:txBody>
      </p:sp>
    </p:spTree>
    <p:extLst>
      <p:ext uri="{BB962C8B-B14F-4D97-AF65-F5344CB8AC3E}">
        <p14:creationId xmlns:p14="http://schemas.microsoft.com/office/powerpoint/2010/main" val="1028281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
            <a:extLst>
              <a:ext uri="{FF2B5EF4-FFF2-40B4-BE49-F238E27FC236}">
                <a16:creationId xmlns:a16="http://schemas.microsoft.com/office/drawing/2014/main" id="{ADA53B68-E988-F94C-84B9-8A37540AA8E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flipH="1">
            <a:off x="903627" y="529833"/>
            <a:ext cx="2918096" cy="3743254"/>
          </a:xfrm>
          <a:prstGeom prst="rect">
            <a:avLst/>
          </a:prstGeom>
          <a:noFill/>
          <a:ln>
            <a:noFill/>
          </a:ln>
        </p:spPr>
      </p:pic>
      <p:sp>
        <p:nvSpPr>
          <p:cNvPr id="5" name="Rectangle 4">
            <a:extLst>
              <a:ext uri="{FF2B5EF4-FFF2-40B4-BE49-F238E27FC236}">
                <a16:creationId xmlns:a16="http://schemas.microsoft.com/office/drawing/2014/main" id="{010438D5-CED4-B337-58F3-B1839B4A57D7}"/>
              </a:ext>
            </a:extLst>
          </p:cNvPr>
          <p:cNvSpPr/>
          <p:nvPr/>
        </p:nvSpPr>
        <p:spPr>
          <a:xfrm>
            <a:off x="1681207" y="1230921"/>
            <a:ext cx="1349208" cy="5978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Add Medicine</a:t>
            </a:r>
          </a:p>
        </p:txBody>
      </p:sp>
      <p:sp>
        <p:nvSpPr>
          <p:cNvPr id="7" name="Rectangle 6">
            <a:extLst>
              <a:ext uri="{FF2B5EF4-FFF2-40B4-BE49-F238E27FC236}">
                <a16:creationId xmlns:a16="http://schemas.microsoft.com/office/drawing/2014/main" id="{D1C13EE2-DC29-DD05-0C0B-E69C387D5698}"/>
              </a:ext>
            </a:extLst>
          </p:cNvPr>
          <p:cNvSpPr/>
          <p:nvPr/>
        </p:nvSpPr>
        <p:spPr>
          <a:xfrm>
            <a:off x="1681207" y="2925814"/>
            <a:ext cx="1349208" cy="5978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Set Reminder</a:t>
            </a:r>
          </a:p>
        </p:txBody>
      </p:sp>
      <p:pic>
        <p:nvPicPr>
          <p:cNvPr id="8" name="Picture 7">
            <a:extLst>
              <a:ext uri="{FF2B5EF4-FFF2-40B4-BE49-F238E27FC236}">
                <a16:creationId xmlns:a16="http://schemas.microsoft.com/office/drawing/2014/main" id="{0E2429BE-9D39-A6EE-C725-CA6A07A108CB}"/>
              </a:ext>
            </a:extLst>
          </p:cNvPr>
          <p:cNvPicPr>
            <a:picLocks noChangeAspect="1"/>
          </p:cNvPicPr>
          <p:nvPr/>
        </p:nvPicPr>
        <p:blipFill>
          <a:blip r:embed="rId3"/>
          <a:stretch>
            <a:fillRect/>
          </a:stretch>
        </p:blipFill>
        <p:spPr>
          <a:xfrm>
            <a:off x="1825413" y="4836943"/>
            <a:ext cx="1060796" cy="1140051"/>
          </a:xfrm>
          <a:prstGeom prst="rect">
            <a:avLst/>
          </a:prstGeom>
        </p:spPr>
      </p:pic>
      <p:pic>
        <p:nvPicPr>
          <p:cNvPr id="9" name="Picture 8">
            <a:extLst>
              <a:ext uri="{FF2B5EF4-FFF2-40B4-BE49-F238E27FC236}">
                <a16:creationId xmlns:a16="http://schemas.microsoft.com/office/drawing/2014/main" id="{E45B51DA-9965-239B-44BB-49529C83D561}"/>
              </a:ext>
            </a:extLst>
          </p:cNvPr>
          <p:cNvPicPr>
            <a:picLocks noChangeAspect="1"/>
          </p:cNvPicPr>
          <p:nvPr/>
        </p:nvPicPr>
        <p:blipFill>
          <a:blip r:embed="rId4"/>
          <a:stretch>
            <a:fillRect/>
          </a:stretch>
        </p:blipFill>
        <p:spPr>
          <a:xfrm>
            <a:off x="2282081" y="4156168"/>
            <a:ext cx="161187" cy="723810"/>
          </a:xfrm>
          <a:prstGeom prst="rect">
            <a:avLst/>
          </a:prstGeom>
        </p:spPr>
      </p:pic>
      <p:sp>
        <p:nvSpPr>
          <p:cNvPr id="11" name="TextBox 10">
            <a:extLst>
              <a:ext uri="{FF2B5EF4-FFF2-40B4-BE49-F238E27FC236}">
                <a16:creationId xmlns:a16="http://schemas.microsoft.com/office/drawing/2014/main" id="{E5C0E1F2-DBE6-06CE-AF47-3CCCF64E698D}"/>
              </a:ext>
            </a:extLst>
          </p:cNvPr>
          <p:cNvSpPr txBox="1"/>
          <p:nvPr/>
        </p:nvSpPr>
        <p:spPr>
          <a:xfrm>
            <a:off x="1008185" y="5906873"/>
            <a:ext cx="6096000"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	Patient</a:t>
            </a:r>
          </a:p>
        </p:txBody>
      </p:sp>
      <p:pic>
        <p:nvPicPr>
          <p:cNvPr id="18" name="Picture 17">
            <a:extLst>
              <a:ext uri="{FF2B5EF4-FFF2-40B4-BE49-F238E27FC236}">
                <a16:creationId xmlns:a16="http://schemas.microsoft.com/office/drawing/2014/main" id="{1FFF236A-7F24-C315-F4EF-98EF8177DEC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9187" y="436229"/>
            <a:ext cx="2512308" cy="1256154"/>
          </a:xfrm>
          <a:prstGeom prst="rect">
            <a:avLst/>
          </a:prstGeom>
        </p:spPr>
      </p:pic>
      <p:pic>
        <p:nvPicPr>
          <p:cNvPr id="21" name="Picture 20">
            <a:extLst>
              <a:ext uri="{FF2B5EF4-FFF2-40B4-BE49-F238E27FC236}">
                <a16:creationId xmlns:a16="http://schemas.microsoft.com/office/drawing/2014/main" id="{8E572885-77E4-D515-D5C9-906A163AD0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40732" y="3166548"/>
            <a:ext cx="2290763" cy="2424113"/>
          </a:xfrm>
          <a:prstGeom prst="rect">
            <a:avLst/>
          </a:prstGeom>
        </p:spPr>
      </p:pic>
      <p:cxnSp>
        <p:nvCxnSpPr>
          <p:cNvPr id="23" name="Connector: Elbow 22">
            <a:extLst>
              <a:ext uri="{FF2B5EF4-FFF2-40B4-BE49-F238E27FC236}">
                <a16:creationId xmlns:a16="http://schemas.microsoft.com/office/drawing/2014/main" id="{8DDDD234-FE08-389F-12C2-72A557E16D46}"/>
              </a:ext>
            </a:extLst>
          </p:cNvPr>
          <p:cNvCxnSpPr>
            <a:cxnSpLocks/>
            <a:endCxn id="21" idx="1"/>
          </p:cNvCxnSpPr>
          <p:nvPr/>
        </p:nvCxnSpPr>
        <p:spPr>
          <a:xfrm>
            <a:off x="3411578" y="3166548"/>
            <a:ext cx="1729154" cy="1212057"/>
          </a:xfrm>
          <a:prstGeom prst="bentConnector3">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26" name="Connector: Elbow 25">
            <a:extLst>
              <a:ext uri="{FF2B5EF4-FFF2-40B4-BE49-F238E27FC236}">
                <a16:creationId xmlns:a16="http://schemas.microsoft.com/office/drawing/2014/main" id="{DDE344C7-0431-D946-C8F1-C8982AFC9337}"/>
              </a:ext>
            </a:extLst>
          </p:cNvPr>
          <p:cNvCxnSpPr>
            <a:cxnSpLocks/>
          </p:cNvCxnSpPr>
          <p:nvPr/>
        </p:nvCxnSpPr>
        <p:spPr>
          <a:xfrm flipV="1">
            <a:off x="3427778" y="1064306"/>
            <a:ext cx="1696753" cy="450760"/>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C262DBA4-0565-684B-F6EB-43A7BA5CE0C7}"/>
              </a:ext>
            </a:extLst>
          </p:cNvPr>
          <p:cNvSpPr/>
          <p:nvPr/>
        </p:nvSpPr>
        <p:spPr>
          <a:xfrm>
            <a:off x="1689472" y="2031716"/>
            <a:ext cx="1349208" cy="5978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Alert Notification</a:t>
            </a:r>
          </a:p>
        </p:txBody>
      </p:sp>
      <p:pic>
        <p:nvPicPr>
          <p:cNvPr id="33" name="Picture 32">
            <a:extLst>
              <a:ext uri="{FF2B5EF4-FFF2-40B4-BE49-F238E27FC236}">
                <a16:creationId xmlns:a16="http://schemas.microsoft.com/office/drawing/2014/main" id="{F268AA4B-FA36-6A0B-19ED-3EF889A701D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32374" y="1692383"/>
            <a:ext cx="1896585" cy="1916549"/>
          </a:xfrm>
          <a:prstGeom prst="rect">
            <a:avLst/>
          </a:prstGeom>
        </p:spPr>
      </p:pic>
      <p:cxnSp>
        <p:nvCxnSpPr>
          <p:cNvPr id="40" name="Connector: Elbow 39">
            <a:extLst>
              <a:ext uri="{FF2B5EF4-FFF2-40B4-BE49-F238E27FC236}">
                <a16:creationId xmlns:a16="http://schemas.microsoft.com/office/drawing/2014/main" id="{19FF90CA-5BCA-CFB9-66A7-701BFF185D15}"/>
              </a:ext>
            </a:extLst>
          </p:cNvPr>
          <p:cNvCxnSpPr>
            <a:cxnSpLocks/>
            <a:endCxn id="33" idx="1"/>
          </p:cNvCxnSpPr>
          <p:nvPr/>
        </p:nvCxnSpPr>
        <p:spPr>
          <a:xfrm>
            <a:off x="4056185" y="2401460"/>
            <a:ext cx="4176189" cy="249198"/>
          </a:xfrm>
          <a:prstGeom prst="bentConnector3">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D99E2CDC-D70A-EC79-40A3-29C252E9FBF5}"/>
              </a:ext>
            </a:extLst>
          </p:cNvPr>
          <p:cNvSpPr txBox="1"/>
          <p:nvPr/>
        </p:nvSpPr>
        <p:spPr>
          <a:xfrm>
            <a:off x="4599303" y="1678606"/>
            <a:ext cx="6096000"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	Medicine</a:t>
            </a:r>
          </a:p>
        </p:txBody>
      </p:sp>
      <p:sp>
        <p:nvSpPr>
          <p:cNvPr id="43" name="TextBox 42">
            <a:extLst>
              <a:ext uri="{FF2B5EF4-FFF2-40B4-BE49-F238E27FC236}">
                <a16:creationId xmlns:a16="http://schemas.microsoft.com/office/drawing/2014/main" id="{02F06C0F-0CD6-DFB3-5E78-175BF4C7963F}"/>
              </a:ext>
            </a:extLst>
          </p:cNvPr>
          <p:cNvSpPr txBox="1"/>
          <p:nvPr/>
        </p:nvSpPr>
        <p:spPr>
          <a:xfrm>
            <a:off x="4774213" y="5495817"/>
            <a:ext cx="6096000"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	Reminder</a:t>
            </a:r>
          </a:p>
        </p:txBody>
      </p:sp>
      <p:sp>
        <p:nvSpPr>
          <p:cNvPr id="44" name="TextBox 43">
            <a:extLst>
              <a:ext uri="{FF2B5EF4-FFF2-40B4-BE49-F238E27FC236}">
                <a16:creationId xmlns:a16="http://schemas.microsoft.com/office/drawing/2014/main" id="{9EDAB900-5CD7-3C41-02BE-D7511E2316C4}"/>
              </a:ext>
            </a:extLst>
          </p:cNvPr>
          <p:cNvSpPr txBox="1"/>
          <p:nvPr/>
        </p:nvSpPr>
        <p:spPr>
          <a:xfrm>
            <a:off x="7798014" y="3673127"/>
            <a:ext cx="6096000"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	ALERT</a:t>
            </a:r>
          </a:p>
        </p:txBody>
      </p:sp>
      <p:sp>
        <p:nvSpPr>
          <p:cNvPr id="3" name="TextBox 2">
            <a:extLst>
              <a:ext uri="{FF2B5EF4-FFF2-40B4-BE49-F238E27FC236}">
                <a16:creationId xmlns:a16="http://schemas.microsoft.com/office/drawing/2014/main" id="{59C8433C-11AD-3FBD-2C99-6A8084F4FD78}"/>
              </a:ext>
            </a:extLst>
          </p:cNvPr>
          <p:cNvSpPr txBox="1"/>
          <p:nvPr/>
        </p:nvSpPr>
        <p:spPr>
          <a:xfrm>
            <a:off x="3030415" y="6126024"/>
            <a:ext cx="6096000" cy="830997"/>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	</a:t>
            </a:r>
            <a:r>
              <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rPr>
              <a:t>Fig.5.1. Architecture of the Proposed System</a:t>
            </a:r>
          </a:p>
          <a:p>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64902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1FDD7A-EB17-BBB7-5EB5-6420ACBE95A3}"/>
              </a:ext>
            </a:extLst>
          </p:cNvPr>
          <p:cNvSpPr txBox="1"/>
          <p:nvPr/>
        </p:nvSpPr>
        <p:spPr>
          <a:xfrm>
            <a:off x="0" y="-21021"/>
            <a:ext cx="12076386" cy="7714612"/>
          </a:xfrm>
          <a:prstGeom prst="rect">
            <a:avLst/>
          </a:prstGeom>
          <a:noFill/>
        </p:spPr>
        <p:txBody>
          <a:bodyPr wrap="square">
            <a:spAutoFit/>
          </a:bodyPr>
          <a:lstStyle/>
          <a:p>
            <a:pPr indent="228600" algn="just">
              <a:lnSpc>
                <a:spcPct val="107000"/>
              </a:lnSpc>
              <a:spcAft>
                <a:spcPts val="800"/>
              </a:spcAf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Step 1: The user sets up their medication schedule by adding medication name, dosage,  frequency, and time of day they need to take their medication.</a:t>
            </a:r>
          </a:p>
          <a:p>
            <a:pPr indent="228600" algn="just">
              <a:lnSpc>
                <a:spcPct val="107000"/>
              </a:lnSpc>
              <a:spcAft>
                <a:spcPts val="800"/>
              </a:spcAft>
            </a:pP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228600" algn="just">
              <a:lnSpc>
                <a:spcPct val="107000"/>
              </a:lnSpc>
              <a:spcAft>
                <a:spcPts val="800"/>
              </a:spcAf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Step 2: The application stores the medication schedule in the database.</a:t>
            </a:r>
          </a:p>
          <a:p>
            <a:pPr indent="228600" algn="just">
              <a:lnSpc>
                <a:spcPct val="107000"/>
              </a:lnSpc>
              <a:spcAft>
                <a:spcPts val="800"/>
              </a:spcAft>
            </a:pP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228600" algn="just">
              <a:lnSpc>
                <a:spcPct val="107000"/>
              </a:lnSpc>
              <a:spcAft>
                <a:spcPts val="800"/>
              </a:spcAf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Step 3: The application checks the current time against the medication schedule to determine if it's time to trigger a reminder.</a:t>
            </a:r>
          </a:p>
          <a:p>
            <a:pPr indent="228600" algn="just">
              <a:lnSpc>
                <a:spcPct val="107000"/>
              </a:lnSpc>
              <a:spcAft>
                <a:spcPts val="800"/>
              </a:spcAft>
            </a:pP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228600" algn="just">
              <a:lnSpc>
                <a:spcPct val="107000"/>
              </a:lnSpc>
              <a:spcAft>
                <a:spcPts val="800"/>
              </a:spcAf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Step 4: If it's time for a medication reminder, the application displays a notification to the user with the medication name, dosage, and any other relevant details.</a:t>
            </a:r>
          </a:p>
          <a:p>
            <a:pPr indent="228600" algn="just">
              <a:lnSpc>
                <a:spcPct val="107000"/>
              </a:lnSpc>
              <a:spcAft>
                <a:spcPts val="800"/>
              </a:spcAft>
            </a:pP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228600" algn="just">
              <a:lnSpc>
                <a:spcPct val="107000"/>
              </a:lnSpc>
              <a:spcAft>
                <a:spcPts val="800"/>
              </a:spcAf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Step 5: The user can then acknowledge the notification by marking the medication as taken or snooze the reminder to be reminded later.</a:t>
            </a:r>
          </a:p>
          <a:p>
            <a:pPr indent="228600" algn="just">
              <a:lnSpc>
                <a:spcPct val="107000"/>
              </a:lnSpc>
              <a:spcAft>
                <a:spcPts val="800"/>
              </a:spcAft>
            </a:pP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228600" algn="just">
              <a:lnSpc>
                <a:spcPct val="107000"/>
              </a:lnSpc>
              <a:spcAft>
                <a:spcPts val="800"/>
              </a:spcAft>
            </a:pPr>
            <a:endParaRPr lang="en-IN" sz="3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228600" algn="just">
              <a:lnSpc>
                <a:spcPct val="107000"/>
              </a:lnSpc>
              <a:spcAft>
                <a:spcPts val="800"/>
              </a:spcAft>
            </a:pP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1669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CE09A0-456E-2544-4D22-3042F46B5B58}"/>
              </a:ext>
            </a:extLst>
          </p:cNvPr>
          <p:cNvSpPr txBox="1"/>
          <p:nvPr/>
        </p:nvSpPr>
        <p:spPr>
          <a:xfrm>
            <a:off x="388883" y="210208"/>
            <a:ext cx="11634951" cy="3032561"/>
          </a:xfrm>
          <a:prstGeom prst="rect">
            <a:avLst/>
          </a:prstGeom>
          <a:noFill/>
        </p:spPr>
        <p:txBody>
          <a:bodyPr wrap="square">
            <a:spAutoFit/>
          </a:bodyPr>
          <a:lstStyle/>
          <a:p>
            <a:pPr indent="228600" algn="just">
              <a:lnSpc>
                <a:spcPct val="107000"/>
              </a:lnSpc>
              <a:spcAft>
                <a:spcPts val="800"/>
              </a:spcAft>
            </a:pP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Step 6: If the user marks the medication as taken, the application updates the medication schedule in the database to reflect that the medication has been taken.</a:t>
            </a:r>
          </a:p>
          <a:p>
            <a:pPr indent="228600" algn="just">
              <a:lnSpc>
                <a:spcPct val="107000"/>
              </a:lnSpc>
              <a:spcAft>
                <a:spcPts val="800"/>
              </a:spcAft>
            </a:pP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228600" algn="just">
              <a:lnSpc>
                <a:spcPct val="107000"/>
              </a:lnSpc>
              <a:spcAft>
                <a:spcPts val="800"/>
              </a:spcAft>
            </a:pP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Step 7: If the user snoozes the reminder, the application reschedules the reminder to a later time, based on the user's preference.</a:t>
            </a:r>
          </a:p>
        </p:txBody>
      </p:sp>
    </p:spTree>
    <p:extLst>
      <p:ext uri="{BB962C8B-B14F-4D97-AF65-F5344CB8AC3E}">
        <p14:creationId xmlns:p14="http://schemas.microsoft.com/office/powerpoint/2010/main" val="38775453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49DBD7E-A1DC-F12B-F153-7C014A190EE0}"/>
              </a:ext>
            </a:extLst>
          </p:cNvPr>
          <p:cNvSpPr txBox="1">
            <a:spLocks/>
          </p:cNvSpPr>
          <p:nvPr/>
        </p:nvSpPr>
        <p:spPr>
          <a:xfrm>
            <a:off x="3601843" y="2615982"/>
            <a:ext cx="6668429" cy="162603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4400" b="1" dirty="0">
                <a:effectLst/>
                <a:latin typeface="Times New Roman" panose="02020603050405020304" pitchFamily="18" charset="0"/>
                <a:ea typeface="Calibri" panose="020F0502020204030204" pitchFamily="34" charset="0"/>
                <a:cs typeface="Times New Roman" panose="02020603050405020304" pitchFamily="18" charset="0"/>
              </a:rPr>
              <a:t>BLOCK</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400" b="1" dirty="0">
                <a:effectLst/>
                <a:latin typeface="Times New Roman" panose="02020603050405020304" pitchFamily="18" charset="0"/>
                <a:ea typeface="Calibri" panose="020F0502020204030204" pitchFamily="34" charset="0"/>
                <a:cs typeface="Times New Roman" panose="02020603050405020304" pitchFamily="18" charset="0"/>
              </a:rPr>
              <a:t>DIAGRAM</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499158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CA578DB-ADA6-13FC-6981-0F43469CDD4B}"/>
              </a:ext>
            </a:extLst>
          </p:cNvPr>
          <p:cNvSpPr/>
          <p:nvPr/>
        </p:nvSpPr>
        <p:spPr>
          <a:xfrm>
            <a:off x="4346330" y="527539"/>
            <a:ext cx="3499339" cy="11254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228600">
              <a:lnSpc>
                <a:spcPct val="150000"/>
              </a:lnSpc>
              <a:spcAft>
                <a:spcPts val="800"/>
              </a:spcAft>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           User Interface</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228600">
              <a:lnSpc>
                <a:spcPct val="150000"/>
              </a:lnSpc>
              <a:spcAft>
                <a:spcPts val="800"/>
              </a:spcAft>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                (App UI)</a:t>
            </a:r>
            <a:endParaRPr lang="en-IN" dirty="0"/>
          </a:p>
        </p:txBody>
      </p:sp>
      <p:sp>
        <p:nvSpPr>
          <p:cNvPr id="14" name="Rectangle 13">
            <a:extLst>
              <a:ext uri="{FF2B5EF4-FFF2-40B4-BE49-F238E27FC236}">
                <a16:creationId xmlns:a16="http://schemas.microsoft.com/office/drawing/2014/main" id="{B4BD54E8-2EA3-1D53-7B48-630E41A45BEB}"/>
              </a:ext>
            </a:extLst>
          </p:cNvPr>
          <p:cNvSpPr/>
          <p:nvPr/>
        </p:nvSpPr>
        <p:spPr>
          <a:xfrm>
            <a:off x="4346329" y="2391508"/>
            <a:ext cx="3499339" cy="11254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Input Logic</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ctr"/>
            <a:endParaRPr lang="en-IN" dirty="0"/>
          </a:p>
        </p:txBody>
      </p:sp>
      <p:sp>
        <p:nvSpPr>
          <p:cNvPr id="15" name="Rectangle 14">
            <a:extLst>
              <a:ext uri="{FF2B5EF4-FFF2-40B4-BE49-F238E27FC236}">
                <a16:creationId xmlns:a16="http://schemas.microsoft.com/office/drawing/2014/main" id="{E0532DE8-84A2-39A8-A73B-4990C45FD84E}"/>
              </a:ext>
            </a:extLst>
          </p:cNvPr>
          <p:cNvSpPr/>
          <p:nvPr/>
        </p:nvSpPr>
        <p:spPr>
          <a:xfrm>
            <a:off x="4346328" y="4255477"/>
            <a:ext cx="3499339" cy="11254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 Database Logic</a:t>
            </a:r>
            <a:endParaRPr lang="en-IN" dirty="0"/>
          </a:p>
        </p:txBody>
      </p:sp>
      <p:cxnSp>
        <p:nvCxnSpPr>
          <p:cNvPr id="18" name="Straight Arrow Connector 17">
            <a:extLst>
              <a:ext uri="{FF2B5EF4-FFF2-40B4-BE49-F238E27FC236}">
                <a16:creationId xmlns:a16="http://schemas.microsoft.com/office/drawing/2014/main" id="{D35307B6-B84F-C900-69B8-7E98B8AA91B7}"/>
              </a:ext>
            </a:extLst>
          </p:cNvPr>
          <p:cNvCxnSpPr>
            <a:cxnSpLocks/>
          </p:cNvCxnSpPr>
          <p:nvPr/>
        </p:nvCxnSpPr>
        <p:spPr>
          <a:xfrm>
            <a:off x="6002208" y="1652953"/>
            <a:ext cx="0" cy="7502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C7E7D2C-C2F6-8481-C73F-8423EE6B9341}"/>
              </a:ext>
            </a:extLst>
          </p:cNvPr>
          <p:cNvCxnSpPr>
            <a:cxnSpLocks/>
          </p:cNvCxnSpPr>
          <p:nvPr/>
        </p:nvCxnSpPr>
        <p:spPr>
          <a:xfrm>
            <a:off x="6002208" y="3505201"/>
            <a:ext cx="0" cy="7502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7FB8E73-78A7-602C-5157-9167966BA8FA}"/>
              </a:ext>
            </a:extLst>
          </p:cNvPr>
          <p:cNvCxnSpPr>
            <a:cxnSpLocks/>
          </p:cNvCxnSpPr>
          <p:nvPr/>
        </p:nvCxnSpPr>
        <p:spPr>
          <a:xfrm>
            <a:off x="6002208" y="5380891"/>
            <a:ext cx="0" cy="7502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19380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CA578DB-ADA6-13FC-6981-0F43469CDD4B}"/>
              </a:ext>
            </a:extLst>
          </p:cNvPr>
          <p:cNvSpPr/>
          <p:nvPr/>
        </p:nvSpPr>
        <p:spPr>
          <a:xfrm>
            <a:off x="4346330" y="527539"/>
            <a:ext cx="3499339" cy="11254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228600">
              <a:lnSpc>
                <a:spcPct val="150000"/>
              </a:lnSpc>
              <a:spcAft>
                <a:spcPts val="800"/>
              </a:spcAft>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           Reminder Logic</a:t>
            </a:r>
            <a:endParaRPr lang="en-IN" dirty="0"/>
          </a:p>
        </p:txBody>
      </p:sp>
      <p:sp>
        <p:nvSpPr>
          <p:cNvPr id="14" name="Rectangle 13">
            <a:extLst>
              <a:ext uri="{FF2B5EF4-FFF2-40B4-BE49-F238E27FC236}">
                <a16:creationId xmlns:a16="http://schemas.microsoft.com/office/drawing/2014/main" id="{B4BD54E8-2EA3-1D53-7B48-630E41A45BEB}"/>
              </a:ext>
            </a:extLst>
          </p:cNvPr>
          <p:cNvSpPr/>
          <p:nvPr/>
        </p:nvSpPr>
        <p:spPr>
          <a:xfrm>
            <a:off x="4346329" y="2391508"/>
            <a:ext cx="3499339" cy="11254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 Notification</a:t>
            </a:r>
            <a:endParaRPr lang="en-IN" dirty="0"/>
          </a:p>
        </p:txBody>
      </p:sp>
      <p:sp>
        <p:nvSpPr>
          <p:cNvPr id="15" name="Rectangle 14">
            <a:extLst>
              <a:ext uri="{FF2B5EF4-FFF2-40B4-BE49-F238E27FC236}">
                <a16:creationId xmlns:a16="http://schemas.microsoft.com/office/drawing/2014/main" id="{E0532DE8-84A2-39A8-A73B-4990C45FD84E}"/>
              </a:ext>
            </a:extLst>
          </p:cNvPr>
          <p:cNvSpPr/>
          <p:nvPr/>
        </p:nvSpPr>
        <p:spPr>
          <a:xfrm>
            <a:off x="4346328" y="4255477"/>
            <a:ext cx="3499339" cy="11254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 User Action</a:t>
            </a:r>
            <a:endParaRPr lang="en-IN" dirty="0"/>
          </a:p>
        </p:txBody>
      </p:sp>
      <p:cxnSp>
        <p:nvCxnSpPr>
          <p:cNvPr id="18" name="Straight Arrow Connector 17">
            <a:extLst>
              <a:ext uri="{FF2B5EF4-FFF2-40B4-BE49-F238E27FC236}">
                <a16:creationId xmlns:a16="http://schemas.microsoft.com/office/drawing/2014/main" id="{D35307B6-B84F-C900-69B8-7E98B8AA91B7}"/>
              </a:ext>
            </a:extLst>
          </p:cNvPr>
          <p:cNvCxnSpPr>
            <a:cxnSpLocks/>
          </p:cNvCxnSpPr>
          <p:nvPr/>
        </p:nvCxnSpPr>
        <p:spPr>
          <a:xfrm>
            <a:off x="6002208" y="1652953"/>
            <a:ext cx="0" cy="7502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C7E7D2C-C2F6-8481-C73F-8423EE6B9341}"/>
              </a:ext>
            </a:extLst>
          </p:cNvPr>
          <p:cNvCxnSpPr>
            <a:cxnSpLocks/>
          </p:cNvCxnSpPr>
          <p:nvPr/>
        </p:nvCxnSpPr>
        <p:spPr>
          <a:xfrm>
            <a:off x="6002208" y="3505201"/>
            <a:ext cx="0" cy="7502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57126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C327A9-11E9-2B96-1E59-CB620970E9C3}"/>
              </a:ext>
            </a:extLst>
          </p:cNvPr>
          <p:cNvSpPr txBox="1"/>
          <p:nvPr/>
        </p:nvSpPr>
        <p:spPr>
          <a:xfrm>
            <a:off x="662151" y="599090"/>
            <a:ext cx="11119945" cy="5493299"/>
          </a:xfrm>
          <a:prstGeom prst="rect">
            <a:avLst/>
          </a:prstGeom>
          <a:noFill/>
        </p:spPr>
        <p:txBody>
          <a:bodyPr wrap="square">
            <a:spAutoFit/>
          </a:bodyPr>
          <a:lstStyle/>
          <a:p>
            <a:pPr marL="342900" lvl="0" indent="-342900">
              <a:lnSpc>
                <a:spcPct val="150000"/>
              </a:lnSpc>
              <a:spcAft>
                <a:spcPts val="800"/>
              </a:spcAft>
              <a:buSzPts val="1000"/>
              <a:buFont typeface="Symbol" panose="05050102010706020507" pitchFamily="18" charset="2"/>
              <a:buChar char=""/>
              <a:tabLst>
                <a:tab pos="457200" algn="l"/>
              </a:tabLst>
            </a:pP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User Interface (App UI): This block includes the screens and controls that the user interacts with to input medication details and schedule reminders.</a:t>
            </a:r>
          </a:p>
          <a:p>
            <a:pPr marL="342900" lvl="0" indent="-342900">
              <a:lnSpc>
                <a:spcPct val="150000"/>
              </a:lnSpc>
              <a:spcAft>
                <a:spcPts val="800"/>
              </a:spcAft>
              <a:buSzPts val="1000"/>
              <a:buFont typeface="Symbol" panose="05050102010706020507" pitchFamily="18" charset="2"/>
              <a:buChar char=""/>
              <a:tabLst>
                <a:tab pos="457200" algn="l"/>
              </a:tabLst>
            </a:pP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Input Logic: This block handles user input validation and formatting before passing it on to the next block.</a:t>
            </a:r>
          </a:p>
          <a:p>
            <a:pPr marL="342900" lvl="0" indent="-342900">
              <a:lnSpc>
                <a:spcPct val="150000"/>
              </a:lnSpc>
              <a:spcAft>
                <a:spcPts val="800"/>
              </a:spcAft>
              <a:buSzPts val="1000"/>
              <a:buFont typeface="Symbol" panose="05050102010706020507" pitchFamily="18" charset="2"/>
              <a:buChar char=""/>
              <a:tabLst>
                <a:tab pos="457200" algn="l"/>
              </a:tabLst>
            </a:pP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Database Logic: This block stores medication and reminder details in a database and retrieves them when needed.</a:t>
            </a:r>
          </a:p>
          <a:p>
            <a:pPr marL="342900" lvl="0" indent="-342900">
              <a:lnSpc>
                <a:spcPct val="150000"/>
              </a:lnSpc>
              <a:spcAft>
                <a:spcPts val="800"/>
              </a:spcAft>
              <a:buSzPts val="1000"/>
              <a:buFont typeface="Symbol" panose="05050102010706020507" pitchFamily="18" charset="2"/>
              <a:buChar char=""/>
              <a:tabLst>
                <a:tab pos="457200" algn="l"/>
              </a:tabLst>
            </a:pP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Reminder Logic: This block checks the medication schedule and sends notifications to the user when it's time to take their medication.</a:t>
            </a:r>
          </a:p>
        </p:txBody>
      </p:sp>
    </p:spTree>
    <p:extLst>
      <p:ext uri="{BB962C8B-B14F-4D97-AF65-F5344CB8AC3E}">
        <p14:creationId xmlns:p14="http://schemas.microsoft.com/office/powerpoint/2010/main" val="22524705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6AB5DF-12DD-20A0-EEAC-B921E7281D0B}"/>
              </a:ext>
            </a:extLst>
          </p:cNvPr>
          <p:cNvSpPr txBox="1"/>
          <p:nvPr/>
        </p:nvSpPr>
        <p:spPr>
          <a:xfrm>
            <a:off x="767255" y="388882"/>
            <a:ext cx="10657490" cy="3349122"/>
          </a:xfrm>
          <a:prstGeom prst="rect">
            <a:avLst/>
          </a:prstGeom>
          <a:noFill/>
        </p:spPr>
        <p:txBody>
          <a:bodyPr wrap="square">
            <a:spAutoFit/>
          </a:bodyPr>
          <a:lstStyle/>
          <a:p>
            <a:pPr marL="342900" lvl="0" indent="-342900">
              <a:lnSpc>
                <a:spcPct val="150000"/>
              </a:lnSpc>
              <a:spcAft>
                <a:spcPts val="800"/>
              </a:spcAft>
              <a:buSzPts val="1000"/>
              <a:buFont typeface="Symbol" panose="05050102010706020507" pitchFamily="18" charset="2"/>
              <a:buChar char=""/>
              <a:tabLst>
                <a:tab pos="457200" algn="l"/>
              </a:tabLst>
            </a:pP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Notification: This block sends push notifications or alerts to the user's device.</a:t>
            </a:r>
          </a:p>
          <a:p>
            <a:pPr marL="342900" lvl="0" indent="-342900">
              <a:lnSpc>
                <a:spcPct val="150000"/>
              </a:lnSpc>
              <a:spcAft>
                <a:spcPts val="800"/>
              </a:spcAft>
              <a:buSzPts val="1000"/>
              <a:buFont typeface="Symbol" panose="05050102010706020507" pitchFamily="18" charset="2"/>
              <a:buChar char=""/>
              <a:tabLst>
                <a:tab pos="457200" algn="l"/>
              </a:tabLst>
            </a:pP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User Action: This block is triggered when the user receives a notification and takes action to mark the medication as taken or snooze the reminder for later.</a:t>
            </a:r>
          </a:p>
        </p:txBody>
      </p:sp>
    </p:spTree>
    <p:extLst>
      <p:ext uri="{BB962C8B-B14F-4D97-AF65-F5344CB8AC3E}">
        <p14:creationId xmlns:p14="http://schemas.microsoft.com/office/powerpoint/2010/main" val="36406183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D241F19-CD31-68AC-03CD-AAC42C350A2B}"/>
              </a:ext>
            </a:extLst>
          </p:cNvPr>
          <p:cNvSpPr txBox="1">
            <a:spLocks/>
          </p:cNvSpPr>
          <p:nvPr/>
        </p:nvSpPr>
        <p:spPr>
          <a:xfrm>
            <a:off x="4064874" y="2807022"/>
            <a:ext cx="4833731" cy="272404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4400" b="1" dirty="0">
                <a:effectLst/>
                <a:latin typeface="Times New Roman" panose="02020603050405020304" pitchFamily="18" charset="0"/>
                <a:ea typeface="Calibri" panose="020F0502020204030204" pitchFamily="34" charset="0"/>
                <a:cs typeface="Times New Roman" panose="02020603050405020304" pitchFamily="18" charset="0"/>
              </a:rPr>
              <a:t>FLOW DIAGRAM</a:t>
            </a:r>
          </a:p>
        </p:txBody>
      </p:sp>
    </p:spTree>
    <p:extLst>
      <p:ext uri="{BB962C8B-B14F-4D97-AF65-F5344CB8AC3E}">
        <p14:creationId xmlns:p14="http://schemas.microsoft.com/office/powerpoint/2010/main" val="13810120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7221EE-8971-CE9E-995D-EEB9137516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0856" y="147208"/>
            <a:ext cx="6168164" cy="6899980"/>
          </a:xfrm>
          <a:prstGeom prst="rect">
            <a:avLst/>
          </a:prstGeom>
        </p:spPr>
      </p:pic>
    </p:spTree>
    <p:extLst>
      <p:ext uri="{BB962C8B-B14F-4D97-AF65-F5344CB8AC3E}">
        <p14:creationId xmlns:p14="http://schemas.microsoft.com/office/powerpoint/2010/main" val="1997604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2D196B7C-9AB1-563C-A6A9-436411F46016}"/>
              </a:ext>
            </a:extLst>
          </p:cNvPr>
          <p:cNvSpPr txBox="1">
            <a:spLocks/>
          </p:cNvSpPr>
          <p:nvPr/>
        </p:nvSpPr>
        <p:spPr>
          <a:xfrm>
            <a:off x="838200" y="704954"/>
            <a:ext cx="10515600" cy="54480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4400" b="1" dirty="0">
              <a:latin typeface="Times New Roman" panose="02020603050405020304" pitchFamily="18" charset="0"/>
              <a:cs typeface="Times New Roman" panose="02020603050405020304" pitchFamily="18" charset="0"/>
            </a:endParaRPr>
          </a:p>
          <a:p>
            <a:pPr marL="0" indent="0" algn="ctr">
              <a:buNone/>
            </a:pPr>
            <a:endParaRPr lang="en-US" sz="4400" b="1" dirty="0">
              <a:latin typeface="Times New Roman" panose="02020603050405020304" pitchFamily="18" charset="0"/>
              <a:cs typeface="Times New Roman" panose="02020603050405020304" pitchFamily="18" charset="0"/>
            </a:endParaRPr>
          </a:p>
          <a:p>
            <a:pPr marL="0" indent="0" algn="ctr">
              <a:buNone/>
            </a:pPr>
            <a:r>
              <a:rPr lang="en-US" sz="4400" b="1" dirty="0">
                <a:latin typeface="Times New Roman" panose="02020603050405020304" pitchFamily="18" charset="0"/>
                <a:cs typeface="Times New Roman" panose="02020603050405020304" pitchFamily="18" charset="0"/>
              </a:rPr>
              <a:t>CHAPTER 6</a:t>
            </a:r>
          </a:p>
          <a:p>
            <a:pPr marL="0" indent="0" algn="ctr">
              <a:buNone/>
            </a:pPr>
            <a:r>
              <a:rPr lang="en-US" sz="4400" b="1" dirty="0">
                <a:latin typeface="Times New Roman" panose="02020603050405020304" pitchFamily="18" charset="0"/>
                <a:cs typeface="Times New Roman" panose="02020603050405020304" pitchFamily="18" charset="0"/>
              </a:rPr>
              <a:t>SYSTEM MODULE</a:t>
            </a:r>
          </a:p>
        </p:txBody>
      </p:sp>
    </p:spTree>
    <p:extLst>
      <p:ext uri="{BB962C8B-B14F-4D97-AF65-F5344CB8AC3E}">
        <p14:creationId xmlns:p14="http://schemas.microsoft.com/office/powerpoint/2010/main" val="25114655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269459D-5208-A28E-B65B-F9A6C9502DED}"/>
              </a:ext>
            </a:extLst>
          </p:cNvPr>
          <p:cNvSpPr txBox="1"/>
          <p:nvPr/>
        </p:nvSpPr>
        <p:spPr>
          <a:xfrm>
            <a:off x="1376855" y="1424028"/>
            <a:ext cx="9259614" cy="4656275"/>
          </a:xfrm>
          <a:prstGeom prst="rect">
            <a:avLst/>
          </a:prstGeom>
          <a:noFill/>
        </p:spPr>
        <p:txBody>
          <a:bodyPr wrap="square">
            <a:spAutoFit/>
          </a:bodyPr>
          <a:lstStyle/>
          <a:p>
            <a:pPr algn="ctr">
              <a:lnSpc>
                <a:spcPct val="150000"/>
              </a:lnSpc>
              <a:spcAft>
                <a:spcPts val="800"/>
              </a:spcAft>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7000"/>
              </a:lnSpc>
              <a:spcAft>
                <a:spcPts val="800"/>
              </a:spcAft>
            </a:pPr>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Module for </a:t>
            </a:r>
            <a:r>
              <a:rPr lang="en-IN" sz="2800" b="1" dirty="0">
                <a:latin typeface="Times New Roman" panose="02020603050405020304" pitchFamily="18" charset="0"/>
                <a:ea typeface="Calibri" panose="020F0502020204030204" pitchFamily="34" charset="0"/>
                <a:cs typeface="Times New Roman" panose="02020603050405020304" pitchFamily="18" charset="0"/>
              </a:rPr>
              <a:t>t</a:t>
            </a:r>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he Proposed System</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spcAft>
                <a:spcPts val="800"/>
              </a:spcAft>
            </a:pP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The project consists of two modules. They are</a:t>
            </a:r>
          </a:p>
          <a:p>
            <a:pPr lvl="0" algn="ctr">
              <a:lnSpc>
                <a:spcPct val="150000"/>
              </a:lnSpc>
            </a:pP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Home page Module</a:t>
            </a:r>
          </a:p>
          <a:p>
            <a:pPr lvl="0" algn="ctr">
              <a:lnSpc>
                <a:spcPct val="150000"/>
              </a:lnSpc>
            </a:pP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Calendar page</a:t>
            </a:r>
            <a:r>
              <a:rPr lang="en-IN" sz="2800" b="1" dirty="0">
                <a:latin typeface="Times New Roman" panose="02020603050405020304" pitchFamily="18" charset="0"/>
                <a:ea typeface="Times New Roman" panose="02020603050405020304" pitchFamily="18" charset="0"/>
                <a:cs typeface="Times New Roman" panose="02020603050405020304" pitchFamily="18" charset="0"/>
              </a:rPr>
              <a:t> </a:t>
            </a: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Module</a:t>
            </a:r>
          </a:p>
          <a:p>
            <a:pPr lvl="0" algn="ctr">
              <a:lnSpc>
                <a:spcPct val="150000"/>
              </a:lnSpc>
              <a:spcAft>
                <a:spcPts val="800"/>
              </a:spcAft>
            </a:pP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Mobile notification module</a:t>
            </a:r>
          </a:p>
          <a:p>
            <a:pPr marL="342900" lvl="0" indent="-342900">
              <a:lnSpc>
                <a:spcPct val="107000"/>
              </a:lnSpc>
              <a:spcAft>
                <a:spcPts val="800"/>
              </a:spcAft>
              <a:buFont typeface="+mj-lt"/>
              <a:buAutoNum type="arabicPeriod"/>
            </a:pP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357485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B1A541-6B6F-12CE-9AF8-ACD522553FF8}"/>
              </a:ext>
            </a:extLst>
          </p:cNvPr>
          <p:cNvSpPr txBox="1"/>
          <p:nvPr/>
        </p:nvSpPr>
        <p:spPr>
          <a:xfrm>
            <a:off x="525517" y="430925"/>
            <a:ext cx="11456276" cy="6078908"/>
          </a:xfrm>
          <a:prstGeom prst="rect">
            <a:avLst/>
          </a:prstGeom>
          <a:noFill/>
        </p:spPr>
        <p:txBody>
          <a:bodyPr wrap="square">
            <a:spAutoFit/>
          </a:bodyPr>
          <a:lstStyle/>
          <a:p>
            <a:pPr>
              <a:lnSpc>
                <a:spcPct val="150000"/>
              </a:lnSpc>
              <a:spcAft>
                <a:spcPts val="800"/>
              </a:spcAft>
            </a:pPr>
            <a:r>
              <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rPr>
              <a:t>6.1.1 </a:t>
            </a: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Home Page</a:t>
            </a:r>
            <a:r>
              <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rPr>
              <a:t> Module</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spcAft>
                <a:spcPts val="800"/>
              </a:spcAft>
              <a:buSzPts val="1000"/>
              <a:buFont typeface="Symbol" panose="05050102010706020507" pitchFamily="18" charset="2"/>
              <a:buChar char=""/>
              <a:tabLst>
                <a:tab pos="457200" algn="l"/>
              </a:tabLs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The top of the screen should have a title, such as "My Medications" or "Medication Reminders."</a:t>
            </a:r>
          </a:p>
          <a:p>
            <a:pPr marL="342900" lvl="0" indent="-342900">
              <a:lnSpc>
                <a:spcPct val="150000"/>
              </a:lnSpc>
              <a:spcAft>
                <a:spcPts val="800"/>
              </a:spcAft>
              <a:buSzPts val="1000"/>
              <a:buFont typeface="Symbol" panose="05050102010706020507" pitchFamily="18" charset="2"/>
              <a:buChar char=""/>
              <a:tabLst>
                <a:tab pos="457200" algn="l"/>
              </a:tabLs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Below the title, there should be a button or icon to add a new medication. This should be easily visible and accessible.</a:t>
            </a:r>
          </a:p>
          <a:p>
            <a:pPr marL="342900" lvl="0" indent="-342900">
              <a:lnSpc>
                <a:spcPct val="150000"/>
              </a:lnSpc>
              <a:spcAft>
                <a:spcPts val="800"/>
              </a:spcAft>
              <a:buSzPts val="1000"/>
              <a:buFont typeface="Symbol" panose="05050102010706020507" pitchFamily="18" charset="2"/>
              <a:buChar char=""/>
              <a:tabLst>
                <a:tab pos="457200" algn="l"/>
              </a:tabLs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The main body of the screen should display a list of medications that the user has already added. Each medication should be displayed with its name, dosage, and time(s) of day that it needs to be taken.</a:t>
            </a:r>
          </a:p>
          <a:p>
            <a:pPr marL="342900" lvl="0" indent="-342900">
              <a:lnSpc>
                <a:spcPct val="150000"/>
              </a:lnSpc>
              <a:spcAft>
                <a:spcPts val="800"/>
              </a:spcAft>
              <a:buSzPts val="1000"/>
              <a:buFont typeface="Symbol" panose="05050102010706020507" pitchFamily="18" charset="2"/>
              <a:buChar char=""/>
              <a:tabLst>
                <a:tab pos="457200" algn="l"/>
              </a:tabLs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For each medication, there should be a button or icon to edit or delete it.</a:t>
            </a:r>
          </a:p>
          <a:p>
            <a:pPr marL="342900" lvl="0" indent="-342900">
              <a:lnSpc>
                <a:spcPct val="150000"/>
              </a:lnSpc>
              <a:spcAft>
                <a:spcPts val="800"/>
              </a:spcAft>
              <a:buSzPts val="1000"/>
              <a:buFont typeface="Symbol" panose="05050102010706020507" pitchFamily="18" charset="2"/>
              <a:buChar char=""/>
              <a:tabLst>
                <a:tab pos="457200" algn="l"/>
              </a:tabLs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At the bottom of the screen, there should be a button to view the "Calendar" page.</a:t>
            </a:r>
          </a:p>
        </p:txBody>
      </p:sp>
    </p:spTree>
    <p:extLst>
      <p:ext uri="{BB962C8B-B14F-4D97-AF65-F5344CB8AC3E}">
        <p14:creationId xmlns:p14="http://schemas.microsoft.com/office/powerpoint/2010/main" val="7344814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CFADFB-45D8-B667-7D4A-CD54881717D4}"/>
              </a:ext>
            </a:extLst>
          </p:cNvPr>
          <p:cNvSpPr txBox="1"/>
          <p:nvPr/>
        </p:nvSpPr>
        <p:spPr>
          <a:xfrm>
            <a:off x="420413" y="451946"/>
            <a:ext cx="11498317" cy="4970913"/>
          </a:xfrm>
          <a:prstGeom prst="rect">
            <a:avLst/>
          </a:prstGeom>
          <a:noFill/>
        </p:spPr>
        <p:txBody>
          <a:bodyPr wrap="square">
            <a:spAutoFit/>
          </a:bodyPr>
          <a:lstStyle/>
          <a:p>
            <a:pPr>
              <a:lnSpc>
                <a:spcPct val="150000"/>
              </a:lnSpc>
              <a:spcAft>
                <a:spcPts val="800"/>
              </a:spcAft>
            </a:pPr>
            <a:r>
              <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rPr>
              <a:t>6.1.2 Calendar page Module</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50000"/>
              </a:lnSpc>
              <a:spcAft>
                <a:spcPts val="800"/>
              </a:spcAft>
              <a:buSzPts val="1000"/>
              <a:buFont typeface="Symbol" panose="05050102010706020507" pitchFamily="18" charset="2"/>
              <a:buChar char=""/>
              <a:tabLst>
                <a:tab pos="457200" algn="l"/>
              </a:tabLs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The top of the screen should have a title, such as "My Medication Calendar."</a:t>
            </a:r>
          </a:p>
          <a:p>
            <a:pPr marL="342900" lvl="0" indent="-342900">
              <a:lnSpc>
                <a:spcPct val="150000"/>
              </a:lnSpc>
              <a:spcAft>
                <a:spcPts val="800"/>
              </a:spcAft>
              <a:buSzPts val="1000"/>
              <a:buFont typeface="Symbol" panose="05050102010706020507" pitchFamily="18" charset="2"/>
              <a:buChar char=""/>
              <a:tabLst>
                <a:tab pos="457200" algn="l"/>
              </a:tabLs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Below the title, there should be a calendar view with the current date highlighted.</a:t>
            </a:r>
          </a:p>
          <a:p>
            <a:pPr marL="342900" lvl="0" indent="-342900">
              <a:lnSpc>
                <a:spcPct val="150000"/>
              </a:lnSpc>
              <a:spcAft>
                <a:spcPts val="800"/>
              </a:spcAft>
              <a:buSzPts val="1000"/>
              <a:buFont typeface="Symbol" panose="05050102010706020507" pitchFamily="18" charset="2"/>
              <a:buChar char=""/>
              <a:tabLst>
                <a:tab pos="457200" algn="l"/>
              </a:tabLs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Each day on the calendar should show the medication(s) that need to be taken on that day, with their names and times.</a:t>
            </a:r>
          </a:p>
          <a:p>
            <a:pPr marL="342900" lvl="0" indent="-342900">
              <a:lnSpc>
                <a:spcPct val="150000"/>
              </a:lnSpc>
              <a:spcAft>
                <a:spcPts val="800"/>
              </a:spcAft>
              <a:buSzPts val="1000"/>
              <a:buFont typeface="Symbol" panose="05050102010706020507" pitchFamily="18" charset="2"/>
              <a:buChar char=""/>
              <a:tabLst>
                <a:tab pos="457200" algn="l"/>
              </a:tabLs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When the user taps on a day, a modal should appear that displays more details about the medication(s) for that day.</a:t>
            </a:r>
          </a:p>
          <a:p>
            <a:pPr marL="342900" lvl="0" indent="-342900">
              <a:lnSpc>
                <a:spcPct val="150000"/>
              </a:lnSpc>
              <a:spcAft>
                <a:spcPts val="800"/>
              </a:spcAft>
              <a:buSzPts val="1000"/>
              <a:buFont typeface="Symbol" panose="05050102010706020507" pitchFamily="18" charset="2"/>
              <a:buChar char=""/>
              <a:tabLst>
                <a:tab pos="457200" algn="l"/>
              </a:tabLs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At the bottom of the screen, there should be a button to return to the "Home" page.</a:t>
            </a:r>
          </a:p>
        </p:txBody>
      </p:sp>
    </p:spTree>
    <p:extLst>
      <p:ext uri="{BB962C8B-B14F-4D97-AF65-F5344CB8AC3E}">
        <p14:creationId xmlns:p14="http://schemas.microsoft.com/office/powerpoint/2010/main" val="20554546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866563-08C2-3C89-6A39-40AEFCD9FCD1}"/>
              </a:ext>
            </a:extLst>
          </p:cNvPr>
          <p:cNvSpPr txBox="1"/>
          <p:nvPr/>
        </p:nvSpPr>
        <p:spPr>
          <a:xfrm>
            <a:off x="462455" y="375307"/>
            <a:ext cx="11529848" cy="6705490"/>
          </a:xfrm>
          <a:prstGeom prst="rect">
            <a:avLst/>
          </a:prstGeom>
          <a:noFill/>
        </p:spPr>
        <p:txBody>
          <a:bodyPr wrap="square">
            <a:spAutoFit/>
          </a:bodyPr>
          <a:lstStyle/>
          <a:p>
            <a:pPr>
              <a:lnSpc>
                <a:spcPct val="150000"/>
              </a:lnSpc>
              <a:spcAft>
                <a:spcPts val="800"/>
              </a:spcAft>
            </a:pPr>
            <a:r>
              <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rPr>
              <a:t>6.1.3 Mobile Notification Module </a:t>
            </a:r>
          </a:p>
          <a:p>
            <a:pPr marL="457200" indent="457200" algn="just">
              <a:lnSpc>
                <a:spcPct val="150000"/>
              </a:lnSpc>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A medicine reminder notification module is a software tool that can be used to set reminders for taking medications. It can be programmed to send notifications to the user at specific times or intervals, reminding them to take their medication as prescribed.</a:t>
            </a:r>
          </a:p>
          <a:p>
            <a:pPr marL="457200" algn="just">
              <a:lnSpc>
                <a:spcPct val="150000"/>
              </a:lnSpc>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The module can be integrated into various platforms such as mobile applications, smartwatches, and desktop applications. Users can input their medication schedule and dosage information into the module, and it will generate notifications at the appropriate times.</a:t>
            </a:r>
          </a:p>
          <a:p>
            <a:pPr marL="457200" algn="just">
              <a:lnSpc>
                <a:spcPct val="150000"/>
              </a:lnSpc>
              <a:spcAft>
                <a:spcPts val="800"/>
              </a:spcAf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The module can also be used to keep track of the user's medication history, such as when they took their medication and how much they took. This information can be useful for healthcare providers to monitor their patients' adherence to medication regimens.</a:t>
            </a:r>
          </a:p>
          <a:p>
            <a:pPr>
              <a:lnSpc>
                <a:spcPct val="150000"/>
              </a:lnSpc>
              <a:spcAft>
                <a:spcPts val="800"/>
              </a:spcAft>
            </a:pP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10248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9291A3-41F6-4D68-1233-2C8A38D48B86}"/>
              </a:ext>
            </a:extLst>
          </p:cNvPr>
          <p:cNvSpPr txBox="1"/>
          <p:nvPr/>
        </p:nvSpPr>
        <p:spPr>
          <a:xfrm>
            <a:off x="951186" y="105102"/>
            <a:ext cx="10289628" cy="1446550"/>
          </a:xfrm>
          <a:prstGeom prst="rect">
            <a:avLst/>
          </a:prstGeom>
          <a:noFill/>
        </p:spPr>
        <p:txBody>
          <a:bodyPr wrap="square">
            <a:spAutoFit/>
          </a:bodyPr>
          <a:lstStyle/>
          <a:p>
            <a:pPr marL="0" indent="0" algn="ctr" eaLnBrk="1" hangingPunct="1">
              <a:spcBef>
                <a:spcPct val="0"/>
              </a:spcBef>
              <a:spcAft>
                <a:spcPct val="0"/>
              </a:spcAft>
              <a:buFont typeface="Arial" panose="020B0604020202020204" pitchFamily="34" charset="0"/>
              <a:buNone/>
            </a:pPr>
            <a:r>
              <a:rPr lang="en-US" altLang="en-US" sz="3200" dirty="0">
                <a:latin typeface="Times New Roman" panose="02020603050405020304" pitchFamily="18" charset="0"/>
                <a:cs typeface="Times New Roman" panose="02020603050405020304" pitchFamily="18" charset="0"/>
              </a:rPr>
              <a:t>CHAPTER 8</a:t>
            </a:r>
            <a:br>
              <a:rPr lang="en-US" altLang="en-US" sz="3200" dirty="0">
                <a:latin typeface="Times New Roman" panose="02020603050405020304" pitchFamily="18" charset="0"/>
                <a:cs typeface="Times New Roman" panose="02020603050405020304" pitchFamily="18" charset="0"/>
              </a:rPr>
            </a:br>
            <a:br>
              <a:rPr lang="en-US" altLang="en-US" sz="3200" dirty="0">
                <a:latin typeface="Times New Roman" panose="02020603050405020304" pitchFamily="18" charset="0"/>
                <a:cs typeface="Times New Roman" panose="02020603050405020304" pitchFamily="18" charset="0"/>
              </a:rPr>
            </a:br>
            <a:r>
              <a:rPr lang="en-US" altLang="en-US" b="1" dirty="0">
                <a:latin typeface="Times New Roman" panose="02020603050405020304" pitchFamily="18" charset="0"/>
                <a:cs typeface="Times New Roman" panose="02020603050405020304" pitchFamily="18" charset="0"/>
              </a:rPr>
              <a:t> </a:t>
            </a:r>
            <a:r>
              <a:rPr lang="en-US" altLang="en-US" sz="2400" b="1" i="1" u="sng" dirty="0">
                <a:latin typeface="Times New Roman" panose="02020603050405020304" pitchFamily="18" charset="0"/>
                <a:cs typeface="Times New Roman" panose="02020603050405020304" pitchFamily="18" charset="0"/>
              </a:rPr>
              <a:t>CONCLUSION AND FUTURE ENHANCEMENT</a:t>
            </a:r>
          </a:p>
        </p:txBody>
      </p:sp>
      <p:sp>
        <p:nvSpPr>
          <p:cNvPr id="5" name="TextBox 4">
            <a:extLst>
              <a:ext uri="{FF2B5EF4-FFF2-40B4-BE49-F238E27FC236}">
                <a16:creationId xmlns:a16="http://schemas.microsoft.com/office/drawing/2014/main" id="{FE39B527-5B89-2FB8-4531-FBF1FBEB010A}"/>
              </a:ext>
            </a:extLst>
          </p:cNvPr>
          <p:cNvSpPr txBox="1"/>
          <p:nvPr/>
        </p:nvSpPr>
        <p:spPr>
          <a:xfrm>
            <a:off x="283780" y="1692310"/>
            <a:ext cx="11624440" cy="5033942"/>
          </a:xfrm>
          <a:prstGeom prst="rect">
            <a:avLst/>
          </a:prstGeom>
          <a:noFill/>
        </p:spPr>
        <p:txBody>
          <a:bodyPr wrap="square">
            <a:spAutoFit/>
          </a:bodyPr>
          <a:lstStyle/>
          <a:p>
            <a:pPr indent="457200" algn="just">
              <a:lnSpc>
                <a:spcPct val="150000"/>
              </a:lnSpc>
              <a:spcAft>
                <a:spcPts val="800"/>
              </a:spcAft>
            </a:pP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The medicine reminder application is an essential tool for people who need to take medication regularly. It provides an efficient and convenient way for users to manage their medication schedule, ensuring that they do not miss any doses. The application is user-friendly and easy to use, making it suitable for people of all ages. With the use of technology, medicine reminder applications have made it easier for people to take their medication on time and avoid any complications that may arise from missed doses.</a:t>
            </a:r>
          </a:p>
          <a:p>
            <a:pPr algn="just">
              <a:lnSpc>
                <a:spcPct val="107000"/>
              </a:lnSpc>
              <a:spcAft>
                <a:spcPts val="800"/>
              </a:spcAft>
            </a:pP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589890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02FA84-9A2A-D2FC-E9ED-5AC7AC3E6837}"/>
              </a:ext>
            </a:extLst>
          </p:cNvPr>
          <p:cNvSpPr txBox="1"/>
          <p:nvPr/>
        </p:nvSpPr>
        <p:spPr>
          <a:xfrm>
            <a:off x="399393" y="522605"/>
            <a:ext cx="11393213" cy="5217134"/>
          </a:xfrm>
          <a:prstGeom prst="rect">
            <a:avLst/>
          </a:prstGeom>
          <a:noFill/>
        </p:spPr>
        <p:txBody>
          <a:bodyPr wrap="square">
            <a:spAutoFit/>
          </a:bodyPr>
          <a:lstStyle/>
          <a:p>
            <a:pPr indent="457200" algn="just">
              <a:lnSpc>
                <a:spcPct val="150000"/>
              </a:lnSpc>
              <a:spcAft>
                <a:spcPts val="800"/>
              </a:spcAf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There are several Future enhancements that can be made to the medicine reminder application to make it more useful and efficient. Some of these enhancements include:</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spcAft>
                <a:spcPts val="800"/>
              </a:spcAft>
            </a:pPr>
            <a:r>
              <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rPr>
              <a:t>Integration with wearable technology:</a:t>
            </a: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The application can be integrated with wearable technology such as smartwatches and fitness bands. This integration would enable the application to send notifications to the user's wearable device, ensuring that they do not miss any doses.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spcAft>
                <a:spcPts val="800"/>
              </a:spcAft>
            </a:pPr>
            <a:r>
              <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rPr>
              <a:t>Integration with pharmacy services:</a:t>
            </a: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The application can be integrated with pharmacy services to enable automatic refills and deliveries of medications. This feature would eliminate the need for the user to manually refill their prescriptions.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48655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334</TotalTime>
  <Words>1442</Words>
  <Application>Microsoft Office PowerPoint</Application>
  <PresentationFormat>Widescreen</PresentationFormat>
  <Paragraphs>127</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Calibri Light</vt:lpstr>
      <vt:lpstr>Symbol</vt:lpstr>
      <vt:lpstr>Times New Roman</vt:lpstr>
      <vt:lpstr>Office Theme</vt:lpstr>
      <vt:lpstr>PowerPoint Presentation</vt:lpstr>
      <vt:lpstr>ABSTRACT</vt:lpstr>
      <vt:lpstr>INTRODUCTION</vt:lpstr>
      <vt:lpstr>PROJECT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Home Automation using Arduino with Bluetooth module</dc:title>
  <dc:creator>Aswin Festo</dc:creator>
  <cp:lastModifiedBy>Aswin B</cp:lastModifiedBy>
  <cp:revision>19</cp:revision>
  <dcterms:created xsi:type="dcterms:W3CDTF">2022-09-25T18:12:56Z</dcterms:created>
  <dcterms:modified xsi:type="dcterms:W3CDTF">2026-03-16T18:22:14Z</dcterms:modified>
</cp:coreProperties>
</file>